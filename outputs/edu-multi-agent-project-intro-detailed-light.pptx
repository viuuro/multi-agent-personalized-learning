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788c9cdec409b" /><Relationship Type="http://schemas.openxmlformats.org/officeDocument/2006/relationships/extended-properties" Target="/docProps/app.xml" Id="Rc721a70f5c72462a" /><Relationship Type="http://schemas.openxmlformats.org/officeDocument/2006/relationships/officeDocument" Target="/ppt/presentation.xml" Id="Rbec530fa30de40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e4966522a4ff6"/>
  </p:sldMasterIdLst>
  <p:notesMasterIdLst>
    <p:notesMasterId xmlns:r="http://schemas.openxmlformats.org/officeDocument/2006/relationships" r:id="R3b168254dfaf44bd"/>
  </p:notesMasterIdLst>
  <p:sldIdLst>
    <p:sldId xmlns:r="http://schemas.openxmlformats.org/officeDocument/2006/relationships" id="256" r:id="R322aebae625549e1"/>
    <p:sldId xmlns:r="http://schemas.openxmlformats.org/officeDocument/2006/relationships" id="257" r:id="R0f23c02460104107"/>
    <p:sldId xmlns:r="http://schemas.openxmlformats.org/officeDocument/2006/relationships" id="258" r:id="Reba2a50f8b7e48fd"/>
    <p:sldId xmlns:r="http://schemas.openxmlformats.org/officeDocument/2006/relationships" id="259" r:id="R11657e45124f402e"/>
    <p:sldId xmlns:r="http://schemas.openxmlformats.org/officeDocument/2006/relationships" id="260" r:id="Rec4b7859fac34b71"/>
    <p:sldId xmlns:r="http://schemas.openxmlformats.org/officeDocument/2006/relationships" id="261" r:id="R2779abc9b4464d40"/>
    <p:sldId xmlns:r="http://schemas.openxmlformats.org/officeDocument/2006/relationships" id="262" r:id="R37e79c7071104c49"/>
    <p:sldId xmlns:r="http://schemas.openxmlformats.org/officeDocument/2006/relationships" id="263" r:id="R1e8c350439a049fb"/>
    <p:sldId xmlns:r="http://schemas.openxmlformats.org/officeDocument/2006/relationships" id="264" r:id="R65e1e6d00e674877"/>
    <p:sldId xmlns:r="http://schemas.openxmlformats.org/officeDocument/2006/relationships" id="265" r:id="R7b1aeafa66784b2f"/>
    <p:sldId xmlns:r="http://schemas.openxmlformats.org/officeDocument/2006/relationships" id="266" r:id="R0fa05f0fa5694488"/>
    <p:sldId xmlns:r="http://schemas.openxmlformats.org/officeDocument/2006/relationships" id="267" r:id="R17f3deb80e014986"/>
    <p:sldId xmlns:r="http://schemas.openxmlformats.org/officeDocument/2006/relationships" id="268" r:id="Rc938a1e197ca4b8d"/>
    <p:sldId xmlns:r="http://schemas.openxmlformats.org/officeDocument/2006/relationships" id="269" r:id="R64414c58c0574942"/>
    <p:sldId xmlns:r="http://schemas.openxmlformats.org/officeDocument/2006/relationships" id="270" r:id="R1ea8cc76fd7c4a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a6b21f24a43ff" /><Relationship Type="http://schemas.openxmlformats.org/officeDocument/2006/relationships/slideMaster" Target="/ppt/slideMasters/slideMaster1.xml" Id="Re96e4966522a4ff6" /><Relationship Type="http://schemas.openxmlformats.org/officeDocument/2006/relationships/notesMaster" Target="/ppt/notesMasters/notesMaster1.xml" Id="R3b168254dfaf44bd" /><Relationship Type="http://schemas.openxmlformats.org/officeDocument/2006/relationships/presProps" Target="/ppt/presProps.xml" Id="Rf4020cfe704543f9" /><Relationship Type="http://schemas.openxmlformats.org/officeDocument/2006/relationships/tableStyles" Target="/ppt/tableStyles.xml" Id="R9258269da2334914" /><Relationship Type="http://schemas.openxmlformats.org/officeDocument/2006/relationships/slide" Target="/ppt/slides/slide1.xml" Id="R322aebae625549e1" /><Relationship Type="http://schemas.openxmlformats.org/officeDocument/2006/relationships/slide" Target="/ppt/slides/slide2.xml" Id="R0f23c02460104107" /><Relationship Type="http://schemas.openxmlformats.org/officeDocument/2006/relationships/slide" Target="/ppt/slides/slide3.xml" Id="Reba2a50f8b7e48fd" /><Relationship Type="http://schemas.openxmlformats.org/officeDocument/2006/relationships/slide" Target="/ppt/slides/slide4.xml" Id="R11657e45124f402e" /><Relationship Type="http://schemas.openxmlformats.org/officeDocument/2006/relationships/slide" Target="/ppt/slides/slide5.xml" Id="Rec4b7859fac34b71" /><Relationship Type="http://schemas.openxmlformats.org/officeDocument/2006/relationships/slide" Target="/ppt/slides/slide6.xml" Id="R2779abc9b4464d40" /><Relationship Type="http://schemas.openxmlformats.org/officeDocument/2006/relationships/slide" Target="/ppt/slides/slide7.xml" Id="R37e79c7071104c49" /><Relationship Type="http://schemas.openxmlformats.org/officeDocument/2006/relationships/slide" Target="/ppt/slides/slide8.xml" Id="R1e8c350439a049fb" /><Relationship Type="http://schemas.openxmlformats.org/officeDocument/2006/relationships/slide" Target="/ppt/slides/slide9.xml" Id="R65e1e6d00e674877" /><Relationship Type="http://schemas.openxmlformats.org/officeDocument/2006/relationships/slide" Target="/ppt/slides/slide10.xml" Id="R7b1aeafa66784b2f" /><Relationship Type="http://schemas.openxmlformats.org/officeDocument/2006/relationships/slide" Target="/ppt/slides/slide11.xml" Id="R0fa05f0fa5694488" /><Relationship Type="http://schemas.openxmlformats.org/officeDocument/2006/relationships/slide" Target="/ppt/slides/slide12.xml" Id="R17f3deb80e014986" /><Relationship Type="http://schemas.openxmlformats.org/officeDocument/2006/relationships/slide" Target="/ppt/slides/slide13.xml" Id="Rc938a1e197ca4b8d" /><Relationship Type="http://schemas.openxmlformats.org/officeDocument/2006/relationships/slide" Target="/ppt/slides/slide14.xml" Id="R64414c58c0574942" /><Relationship Type="http://schemas.openxmlformats.org/officeDocument/2006/relationships/slide" Target="/ppt/slides/slide15.xml" Id="R1ea8cc76fd7c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bcd1ea819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593d22d7140bc" /><Relationship Type="http://schemas.openxmlformats.org/officeDocument/2006/relationships/notesMaster" Target="/ppt/notesMasters/notesMaster1.xml" Id="R01745db326d842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e8885f55f4018" /><Relationship Type="http://schemas.openxmlformats.org/officeDocument/2006/relationships/notesMaster" Target="/ppt/notesMasters/notesMaster1.xml" Id="Rd6ed267bb41a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9669a246343a6" /><Relationship Type="http://schemas.openxmlformats.org/officeDocument/2006/relationships/notesMaster" Target="/ppt/notesMasters/notesMaster1.xml" Id="R5a6bf3835e73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66042fc74146aa" /><Relationship Type="http://schemas.openxmlformats.org/officeDocument/2006/relationships/notesMaster" Target="/ppt/notesMasters/notesMaster1.xml" Id="R157c0640cdeb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96e096fd048f6" /><Relationship Type="http://schemas.openxmlformats.org/officeDocument/2006/relationships/notesMaster" Target="/ppt/notesMasters/notesMaster1.xml" Id="Rce46a89c1e3e40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d4f45ffc1432d" /><Relationship Type="http://schemas.openxmlformats.org/officeDocument/2006/relationships/notesMaster" Target="/ppt/notesMasters/notesMaster1.xml" Id="Rec1c1ec522ab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cd4567e0244b6" /><Relationship Type="http://schemas.openxmlformats.org/officeDocument/2006/relationships/notesMaster" Target="/ppt/notesMasters/notesMaster1.xml" Id="R5a4d94526690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5c1b36b18c4254" /><Relationship Type="http://schemas.openxmlformats.org/officeDocument/2006/relationships/notesMaster" Target="/ppt/notesMasters/notesMaster1.xml" Id="Refd37f964e58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727f839274b0a" /><Relationship Type="http://schemas.openxmlformats.org/officeDocument/2006/relationships/notesMaster" Target="/ppt/notesMasters/notesMaster1.xml" Id="Rcf875c754c594a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05580da164fdd" /><Relationship Type="http://schemas.openxmlformats.org/officeDocument/2006/relationships/notesMaster" Target="/ppt/notesMasters/notesMaster1.xml" Id="R298481bd5f9044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24bfbb08e64ee8" /><Relationship Type="http://schemas.openxmlformats.org/officeDocument/2006/relationships/notesMaster" Target="/ppt/notesMasters/notesMaster1.xml" Id="R46cb18583baa49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e29e5be5624c77" /><Relationship Type="http://schemas.openxmlformats.org/officeDocument/2006/relationships/notesMaster" Target="/ppt/notesMasters/notesMaster1.xml" Id="R3e94b2c2a84d40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0c19c7212644a6" /><Relationship Type="http://schemas.openxmlformats.org/officeDocument/2006/relationships/notesMaster" Target="/ppt/notesMasters/notesMaster1.xml" Id="R8fc57dd8515b4f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4b7cb91fa343f6" /><Relationship Type="http://schemas.openxmlformats.org/officeDocument/2006/relationships/notesMaster" Target="/ppt/notesMasters/notesMaster1.xml" Id="R6bdb32a7e35e40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3fb655ba004a0c" /><Relationship Type="http://schemas.openxmlformats.org/officeDocument/2006/relationships/notesMaster" Target="/ppt/notesMasters/notesMaster1.xml" Id="Rcbe79bf8620e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e639751ab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1ce3a2bf8c4157" /><Relationship Type="http://schemas.openxmlformats.org/officeDocument/2006/relationships/slideLayout" Target="/ppt/slideLayouts/slideLayout1.xml" Id="R9532bd8d8641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2bd8d8641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6ee3b2b3b4053" /><Relationship Type="http://schemas.openxmlformats.org/officeDocument/2006/relationships/image" Target="/ppt/media/image.jpeg" Id="R2fd3696daad34444" /><Relationship Type="http://schemas.openxmlformats.org/officeDocument/2006/relationships/notesSlide" Target="/ppt/notesSlides/notesSlide1.xml" Id="R53834fc5e728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92110e7494fee" /><Relationship Type="http://schemas.openxmlformats.org/officeDocument/2006/relationships/notesSlide" Target="/ppt/notesSlides/notesSlide2.xml" Id="R23c106aa4ce7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4e3dd7ee461c" /><Relationship Type="http://schemas.openxmlformats.org/officeDocument/2006/relationships/image" Target="/ppt/media/image2.jpeg" Id="Rabe08afe6f42417c" /><Relationship Type="http://schemas.openxmlformats.org/officeDocument/2006/relationships/notesSlide" Target="/ppt/notesSlides/notesSlide3.xml" Id="Rd2feed227c0b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bbe5aa96a4d2f" /><Relationship Type="http://schemas.openxmlformats.org/officeDocument/2006/relationships/notesSlide" Target="/ppt/notesSlides/notesSlide4.xml" Id="R54a0a0616d6e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d328e09a34497" /><Relationship Type="http://schemas.openxmlformats.org/officeDocument/2006/relationships/notesSlide" Target="/ppt/notesSlides/notesSlide5.xml" Id="R696ea22c154c40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79db00e7b4595" /><Relationship Type="http://schemas.openxmlformats.org/officeDocument/2006/relationships/notesSlide" Target="/ppt/notesSlides/notesSlide6.xml" Id="R0789f176816d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8855f5a4b4ed2" /><Relationship Type="http://schemas.openxmlformats.org/officeDocument/2006/relationships/notesSlide" Target="/ppt/notesSlides/notesSlide7.xml" Id="Rb59473a5886c48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a22a9b3314223" /><Relationship Type="http://schemas.openxmlformats.org/officeDocument/2006/relationships/notesSlide" Target="/ppt/notesSlides/notesSlide8.xml" Id="Rc0f909adeb3348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354d77564b5a" /><Relationship Type="http://schemas.openxmlformats.org/officeDocument/2006/relationships/notesSlide" Target="/ppt/notesSlides/notesSlide9.xml" Id="R7413d055b73846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00d86021b4bdf" /><Relationship Type="http://schemas.openxmlformats.org/officeDocument/2006/relationships/image" Target="/ppt/media/image3.jpeg" Id="R4617b9eb2f45458e" /><Relationship Type="http://schemas.openxmlformats.org/officeDocument/2006/relationships/notesSlide" Target="/ppt/notesSlides/notesSlide10.xml" Id="Rffb4e407027d48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57fcb96d248ac" /><Relationship Type="http://schemas.openxmlformats.org/officeDocument/2006/relationships/image" Target="/ppt/media/image4.jpeg" Id="R032f94df76f9455e" /><Relationship Type="http://schemas.openxmlformats.org/officeDocument/2006/relationships/image" Target="/ppt/media/image5.jpeg" Id="Rf3bbdb4c5fb1492a" /><Relationship Type="http://schemas.openxmlformats.org/officeDocument/2006/relationships/notesSlide" Target="/ppt/notesSlides/notesSlide11.xml" Id="R27a9ab1127544c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61cceb2ed443f" /><Relationship Type="http://schemas.openxmlformats.org/officeDocument/2006/relationships/image" Target="/ppt/media/image6.jpeg" Id="Re78b105a863c4d3d" /><Relationship Type="http://schemas.openxmlformats.org/officeDocument/2006/relationships/notesSlide" Target="/ppt/notesSlides/notesSlide12.xml" Id="Ra6316a30b33743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5b67d5d0c47b5" /><Relationship Type="http://schemas.openxmlformats.org/officeDocument/2006/relationships/image" Target="/ppt/media/image7.jpeg" Id="R65b4337289a3480e" /><Relationship Type="http://schemas.openxmlformats.org/officeDocument/2006/relationships/image" Target="/ppt/media/image8.jpeg" Id="R7da6dc4c17984f2e" /><Relationship Type="http://schemas.openxmlformats.org/officeDocument/2006/relationships/notesSlide" Target="/ppt/notesSlides/notesSlide13.xml" Id="Rbf6a8b2a70f740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931a0e9154c6f" /><Relationship Type="http://schemas.openxmlformats.org/officeDocument/2006/relationships/notesSlide" Target="/ppt/notesSlides/notesSlide14.xml" Id="R2efad721204e49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73e4aafba4120" /><Relationship Type="http://schemas.openxmlformats.org/officeDocument/2006/relationships/notesSlide" Target="/ppt/notesSlides/notesSlide15.xml" Id="R7d16a0b288ee48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8F963-D9EA-4EEA-BF7C-486796D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4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164C9-8103-4F21-89A3-620881BE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222B-08F4-40A1-9C33-2F43DD9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PERSONALIZED LEARNING · MULTI-AGENT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46441-9212-41ED-9777-2C0FCAD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09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B322D"/>
                </a:solidFill>
              </a:defRPr>
            </a:pPr>
            <a:r>
              <a:rPr sz="5100" b="1">
                <a:solidFill>
                  <a:srgbClr val="3B322D"/>
                </a:solidFill>
              </a:rPr>
              <a:t>个性化学习</a:t>
            </a:r>
          </a:p>
          <a:p xmlns:a="http://schemas.openxmlformats.org/drawingml/2006/main">
            <a:pPr algn="l">
              <a:defRPr sz="5100" b="1">
                <a:solidFill>
                  <a:srgbClr val="3B322D"/>
                </a:solidFill>
              </a:defRPr>
            </a:pPr>
            <a:r>
              <a:rPr sz="5100" b="1">
                <a:solidFill>
                  <a:srgbClr val="3B322D"/>
                </a:solidFill>
              </a:rPr>
              <a:t>多智能体系统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A34FC-1D4B-45EA-94CA-C6902BD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76960"/>
                </a:solidFill>
              </a:defRPr>
            </a:pPr>
            <a:r>
              <a:rPr sz="2025" b="0">
                <a:solidFill>
                  <a:srgbClr val="776960"/>
                </a:solidFill>
              </a:rPr>
              <a:t>从对话理解到计划执行，</a:t>
            </a:r>
          </a:p>
          <a:p xmlns:a="http://schemas.openxmlformats.org/drawingml/2006/main">
            <a:pPr algn="l">
              <a:defRPr sz="2025" b="0">
                <a:solidFill>
                  <a:srgbClr val="776960"/>
                </a:solidFill>
              </a:defRPr>
            </a:pPr>
            <a:r>
              <a:rPr sz="2025" b="0">
                <a:solidFill>
                  <a:srgbClr val="776960"/>
                </a:solidFill>
              </a:rPr>
              <a:t>持续建立每位学习者的成长闭环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67AAB-EC41-4958-A6EA-E01631F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133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0BFC1-7AC1-437D-8104-B3D6CE2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详细功能介绍 · 浅色版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9A231-397D-4C76-A08E-8DB23DA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4958C"/>
                </a:solidFill>
              </a:defRPr>
            </a:pPr>
            <a:r>
              <a:rPr sz="1275" b="0">
                <a:solidFill>
                  <a:srgbClr val="A4958C"/>
                </a:solidFill>
              </a:rPr>
              <a:t>Spring Boot · FastAPI · LangChain · MiMo-v2.5 · Vue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70B38-95A6-439D-AB99-787C86F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09600"/>
            <a:ext cx="622935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04031-95F5-48CC-82C5-D50E4D6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真实运行界面 · Light Mode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3696daad34444"/>
          <a:stretch xmlns:a="http://schemas.openxmlformats.org/drawingml/2006/main"/>
        </p:blipFill>
        <p:spPr>
          <a:xfrm xmlns:a="http://schemas.openxmlformats.org/drawingml/2006/main">
            <a:off x="5410200" y="1721048"/>
            <a:ext cx="6038850" cy="3396853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549384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E88C9-12E9-463C-934D-3AD15B2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PROJECT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DE655-D2EB-4292-A75C-C76B7D5D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它解决的不是“回答一次”，而是“持续教会”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71D5E-494D-4D65-A7CE-B98A849C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EB94A-282B-4C7C-BF34-475B55B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3C62-37AE-4738-A74D-3FB2F8F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76960"/>
                </a:solidFill>
              </a:defRPr>
            </a:pPr>
            <a:r>
              <a:rPr sz="2025" b="0">
                <a:solidFill>
                  <a:srgbClr val="776960"/>
                </a:solidFill>
              </a:rPr>
              <a:t>普通问答在会话结束后就失去上下文；本项目把学习者信息转化为长期可用的画像、计划与证据。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3F495-39D2-40D0-B486-04B53655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7858"/>
                </a:solidFill>
              </a:defRPr>
            </a:pPr>
            <a:r>
              <a:rPr sz="2850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1B683-B75C-4159-A81A-A2558A27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理解学习者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21C8A-EBE3-48FE-A597-39635A4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从对话提取知识基础、认知风格、薄弱点、学习节奏、兴趣与短期目标。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2E96A-812C-46AB-89CE-C609683E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ADBA0-FA06-4B3D-9DC5-8AFA13DE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7858"/>
                </a:solidFill>
              </a:defRPr>
            </a:pPr>
            <a:r>
              <a:rPr sz="2850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BF45B-98D5-42B0-8E6E-CE041B16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形成行动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F8F1D-B9B7-4DF2-9747-14134605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把目标拆成四周主题、具体任务和资源，并支持指定周、难度、节奏与方向调整。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7E062-1806-4E0A-B4B4-4C54036C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9B06C-A615-4718-BD1B-B525088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7858"/>
                </a:solidFill>
              </a:defRPr>
            </a:pPr>
            <a:r>
              <a:rPr sz="2850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1DF22-0DFF-40D8-9BCE-00272B0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验证成长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A6590-74F1-47DF-AB13-A6A7BAE1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719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通过练习、成果版本和五维评价沉淀证据，再反向更新画像与下一阶段建议。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883A1-0DD4-424A-8421-DD6BBBCA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F2CDA-D9BF-472E-9B50-EBC04BCC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核心差异：系统记住的不是一串聊天，而是“有来源、有置信度、能驱动行动”的个性化学习证据。</a:t>
            </a:r>
          </a:p>
        </p:txBody>
      </p:sp>
    </p:spTree>
    <p:extLst>
      <p:ext uri="{BB962C8B-B14F-4D97-AF65-F5344CB8AC3E}">
        <p14:creationId xmlns:p14="http://schemas.microsoft.com/office/powerpoint/2010/main" val="427431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42C2-653F-4F25-A77E-81CC303A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PRODUCT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C9AB8-8D53-4B3B-B6D1-D9C2E93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一个工作台承载完整的个性化学习过程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F4D05-B5EF-4B23-A382-5E71AE16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898E8-3B4C-4B56-8CBC-8E30FF25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E154-FF32-46E2-BE51-713C0AED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9819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33F56-FAC4-4CAB-BF38-6180B7E8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322D"/>
                </a:solidFill>
              </a:defRPr>
            </a:pPr>
            <a:r>
              <a:rPr sz="2100" b="1">
                <a:solidFill>
                  <a:srgbClr val="3B322D"/>
                </a:solidFill>
              </a:rPr>
              <a:t>对话不是孤立入口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0A8FD-A488-429C-85A7-37A290C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213E8-83BF-4DF1-8300-F79970E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中央对话区支持 Markdown、图片 / 文件输入与 SSE 流式回复。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EE094-87BA-4FE2-8BF6-EDE0BF37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81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AB8C6-9CEF-4F7D-B92B-EE9DE0A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右侧六维雷达图、四周计划与成果入口跟随当前会话。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788ED-268A-470C-836A-C84FA801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00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FB85C-1812-4FEC-8204-1CF26746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005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左侧沉淀活跃度、历史对话和学习文件，保持连续学习语境。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DE49E-8586-4EAC-AF60-BD1EA66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054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858"/>
                </a:solidFill>
              </a:defRPr>
            </a:pPr>
            <a:r>
              <a:rPr sz="1575" b="1">
                <a:solidFill>
                  <a:srgbClr val="B87858"/>
                </a:solidFill>
              </a:rPr>
              <a:t>浅色模式以暖白、米灰和陶土橙为主，弱化界面压力，突出学习内容。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08afe6f42417c"/>
          <a:stretch xmlns:a="http://schemas.openxmlformats.org/drawingml/2006/main"/>
        </p:blipFill>
        <p:spPr>
          <a:xfrm xmlns:a="http://schemas.openxmlformats.org/drawingml/2006/main">
            <a:off x="609600" y="1780580"/>
            <a:ext cx="7791450" cy="4382691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</p:spTree>
    <p:extLst>
      <p:ext uri="{BB962C8B-B14F-4D97-AF65-F5344CB8AC3E}">
        <p14:creationId xmlns:p14="http://schemas.microsoft.com/office/powerpoint/2010/main" val="1176311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4D5AE6-D9B0-4E51-8CE2-5E0A8EB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PERSONALIZED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7A497-3C83-4806-BF48-4411130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“个性化智能体”是一条持续运行的决策链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2A7A2-7500-4D8E-8491-C7EBA13E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B61A5-F8FF-4B3D-9FA9-4213B40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7A1C-71EF-4936-B823-D5E884F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960"/>
                </a:solidFill>
              </a:defRPr>
            </a:pPr>
            <a:r>
              <a:rPr sz="1800" b="0">
                <a:solidFill>
                  <a:srgbClr val="776960"/>
                </a:solidFill>
              </a:rPr>
              <a:t>每轮交互都经历理解、决策、执行、审查和写回；规则逻辑与模型能力共同保证可解释与可降级。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1E342-4FE5-44F5-97C2-42544A8C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0D775-98F3-45B3-B1B0-252624F6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05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97A1C-45F9-4AFC-93DD-CB0432B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23224-8A66-41AF-BF6A-55FD9B46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05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46E94-73F1-4729-B760-15FA0CF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05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96700-81A8-4148-B770-A1A8122F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A5A30-EF28-4D6F-8FFD-868C4AC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F4ADE-D0BA-4210-929F-F852F9EE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理解输入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41F8B-31EC-475E-B5BC-8D891102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识别意图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提取临时状态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D5C18-5067-45B7-9A85-F9B27843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5AF0A-3338-4597-B431-A8274F8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7CD61-1926-4BE6-A184-FC2CCCB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051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更新画像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0770F-DEDD-48EE-8FB1-EE5F6A1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证据 + 置信度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长期 / 短期分离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06CCF-975D-44AE-8FDC-B2002C5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D8CB"/>
          </a:solidFill>
          <a:ln xmlns:a="http://schemas.openxmlformats.org/drawingml/2006/main" w="19050">
            <a:solidFill>
              <a:srgbClr val="D491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25671-F68B-4089-AEA1-64B810D5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4D322-5A22-48EA-9EAE-CC9D4E6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选择动作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6E7AD-475A-462D-AA4C-321E4906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回答 / 追问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创建或修改计划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37A8E-F3E8-472A-A53C-C2D69D30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EB054-C976-45E2-A46E-69E3745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41EAC-BB34-4852-AF7F-6CA52BC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生成结果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7C306-D752-4E3B-ABC0-796171C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个性化回复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任务、资源与练习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299DD-7794-41F3-B121-38A5BB1B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E8BAC-6CBD-4377-A34D-94A1CC6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84B63-886F-43E4-B5A9-B087097C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质量审查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D7ECB-8B07-4103-B184-5E1615B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规则检查 + 模型复核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必要时重写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4B1A8-4542-4CB6-88A5-A4137C11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1600200" cy="21336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6BC907-63DC-41DB-B79A-D099DA7A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84AF9-A066-4D27-9BE8-96E416F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71800"/>
            <a:ext cx="129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持久化</a:t>
            </a:r>
          </a:p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写回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D08E3-D495-442A-AD6D-DF60AF8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957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记忆、决策、版本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评价与成长证据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66953-130A-4492-80B8-7ADE4E9E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9783"/>
                </a:solidFill>
              </a:defRPr>
            </a:pPr>
            <a:r>
              <a:rPr sz="1650" b="1">
                <a:solidFill>
                  <a:srgbClr val="739783"/>
                </a:solidFill>
              </a:rPr>
              <a:t>规则安全网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219DD-C2E8-4E2B-AF2B-A2F6B1EE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模型不可用时仍能完成基础意图识别、画像证据提取、计划动作和质量检查。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78BD10-4E81-4660-ACCF-E0BB4BD9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8FA7"/>
                </a:solidFill>
              </a:defRPr>
            </a:pPr>
            <a:r>
              <a:rPr sz="1650" b="1">
                <a:solidFill>
                  <a:srgbClr val="6F8FA7"/>
                </a:solidFill>
              </a:rPr>
              <a:t>模型增强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CF8028-6D4C-4642-BABC-1AC78D51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MiMo-v2.5 负责更细致的语义判断、个性化生成、资源推荐与成长评价。</a:t>
            </a:r>
          </a:p>
        </p:txBody>
      </p:sp>
    </p:spTree>
    <p:extLst>
      <p:ext uri="{BB962C8B-B14F-4D97-AF65-F5344CB8AC3E}">
        <p14:creationId xmlns:p14="http://schemas.microsoft.com/office/powerpoint/2010/main" val="584232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E17C46-8080-4EE2-8CCC-12CB9FB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SIX-DIMENSION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31EE2-2ED6-4CFB-A9ED-18F8150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六维画像如何真正影响智能体行为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FC4C6-8125-4091-9E2B-B1BA298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92EF9-36A9-4443-ADFC-51C2AFC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54CB5-C718-4F27-A73E-EF694E5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画像维度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30237-01CB-41A5-BCD0-FAF479B5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76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系统关注的信号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55533-9C28-4C22-950A-0F9C0385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对回答与计划的影响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57A6-5AE5-4A64-9E90-60DBEAF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F8F19-E8F6-4CA5-B2DA-6B06ACC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441D1-1CC7-4569-B65A-6AD48F3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知识基础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41EB1-EE72-4655-AD64-5E95DFD7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概念掌握、术语熟悉度、代码经验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5B7DA-3C31-4630-B18C-9ECE180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决定讲解起点、术语密度和任务难度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F58C4-4F81-4703-AC27-B57F6A5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AE40E-FC47-430E-99FD-4A09CAB9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认知风格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78F55-C3A9-4200-BA88-5DBAE8EF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14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visual / verbal / kinesthetic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E0D45-16D9-4719-B8CB-E42566A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优先图示、文字推导或动手实践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B5F31-DB2B-48EC-B362-D5583FEA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FA415-D907-4B1F-BEBD-B4C0B916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5CA4B-F52E-408F-876D-2A103E7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薄弱点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4337D-CED6-4A5E-AB4C-0412414C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814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错误类型、反复困惑、评价弱项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2E533-EBE4-4FAA-97EC-728D9165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增加针对性解释、复习与练习覆盖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4DD7C-2EB8-4A88-A494-DC45314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23A97-EA2A-4B21-9E34-0254D320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学习节奏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2BBEE-81CB-4129-85AC-CBED95CD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可用时间、完成速度、任务负担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E153E-F9CB-467B-9B20-001AD6A1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调节每周任务量、挑战幅度与周期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F5651-728B-44F3-915A-02B5AA3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C5E55-8817-4933-AA8B-0972F0E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1A507-4C80-4BE7-8018-68B61DED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兴趣领域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7161C-730F-4FC1-9F0C-C0085A5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149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主动关注主题、资源偏好、方向选择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B1C15-16E7-47B3-B44F-43098B1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改变案例、资源平台与学习主题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E1AA9-EB89-43DF-B065-BC25AFB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AD466D-1430-4FE8-B3A4-F0E86BA3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短期目标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F7C60-19C7-4F4C-B988-6B228C1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考试、项目、转岗或阶段性成果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66556-4BDF-4655-AB50-D8E3D5BE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8165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决定四周计划终点与优先级排序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2B95A-B1DC-445D-A042-0A48ABC8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B9FC5B-974E-460A-A435-9453C0B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个性化不是“加一句称呼”，而是系统性改变内容深度、表达方式、任务编排和资源选择。</a:t>
            </a:r>
          </a:p>
        </p:txBody>
      </p:sp>
    </p:spTree>
    <p:extLst>
      <p:ext uri="{BB962C8B-B14F-4D97-AF65-F5344CB8AC3E}">
        <p14:creationId xmlns:p14="http://schemas.microsoft.com/office/powerpoint/2010/main" val="882011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D880E-21FB-459D-9283-3C2949F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EVIDENCE-DRIVEN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C40D5-A900-4222-8A36-FF907470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画像只在证据充分时更新，避免过度推断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BB33-B1A8-404D-BD9D-B3898B3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7F57E-472E-46E2-B93A-E2C29FF0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251F-8BB5-4CD5-9F6D-97AFD26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960"/>
                </a:solidFill>
              </a:defRPr>
            </a:pPr>
            <a:r>
              <a:rPr sz="1800" b="0">
                <a:solidFill>
                  <a:srgbClr val="776960"/>
                </a:solidFill>
              </a:rPr>
              <a:t>智能体只记录用户最新消息直接支持的新事实，并保留原文、置信度、作用域和更新动作。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CA77B-477C-4726-9A2D-BC6A34E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53354-D7CF-4A9E-A6B8-EECEC860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B63D6-F745-491A-A95F-FEC71230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用户原话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C92CC-A0C5-4BEB-B301-E2AE9BEB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“我更喜欢看图理解，最近每天只能学 40 分钟。”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6FBA3-406F-4DD1-9D89-4DB6CAA2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64B74-5777-47EB-8892-3761BBCE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383FA-4E9D-4EAA-A086-6B63122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53C76-85D2-4AE9-9C45-B46479F6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证据抽取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AC27C-EEB8-4B8E-99AA-4ED5A7A9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cognitiveStyle = visual，confidence = 0.88，LONG_TERM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3E907-29E6-40A0-B17A-B8226E3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CFDB4-F5F1-4C45-9062-254043F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EEEF5-07D2-48E5-AC35-E51B595A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48E6A-329A-410F-8C1A-96246B6A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临时状态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FDA7E-AA3A-4F7F-B6AE-61F21C40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timeAvailable = 40 分钟，仅进入 temporary_state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32525-A053-4D0A-A5DC-278BF53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FD59B-8815-4077-844C-4F9A8B8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09F9A-8F1A-44EA-9C99-CC0442A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78393-4957-45B1-893B-CD458DD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持久化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5B311-BE6D-4B06-BF29-FB414D66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置信度 ≥ 0.60 的六维证据写入数据库并保留来源消息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E9BDE-6474-4DBC-A521-A5C68D9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5F155-D1FF-4BD8-B129-0400FAD2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关键保护：长期画像与“今天很累、这周很忙、当前焦虑”等临时状态严格分离；临时状态会按时间自动失效。</a:t>
            </a:r>
          </a:p>
        </p:txBody>
      </p:sp>
    </p:spTree>
    <p:extLst>
      <p:ext uri="{BB962C8B-B14F-4D97-AF65-F5344CB8AC3E}">
        <p14:creationId xmlns:p14="http://schemas.microsoft.com/office/powerpoint/2010/main" val="1285717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19B26-E971-42E7-BF25-62F743E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MEMORY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0A03A-EEF9-485C-B5CF-C73AD20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三层记忆让智能体既连续，又不过度记忆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CBB2D-42FF-4771-B168-E6A6764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56EB3-B51E-4FE9-833D-10B35F8B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AD10C-761F-4784-816E-CE6C006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009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19F22-F151-42E8-BDA7-BF07266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876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F39BB-E7B4-44E8-81AD-6F1C6895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7858"/>
                </a:solidFill>
              </a:defRPr>
            </a:pPr>
            <a:r>
              <a:rPr sz="1350" b="1">
                <a:solidFill>
                  <a:srgbClr val="B87858"/>
                </a:solidFill>
              </a:rPr>
              <a:t>即时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D6770-8819-4DBC-B8C5-4A8E38E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240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最近原始消息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85C6-B543-452D-B041-671865C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24050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保留当前对话细节，用于回答指代、追问和短期上下文。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3758D-D4DC-4C76-A917-A0A0E67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4916F"/>
                </a:solidFill>
              </a:defRPr>
            </a:pPr>
            <a:r>
              <a:rPr sz="1875" b="1">
                <a:solidFill>
                  <a:srgbClr val="D4916F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CC3B7-FFA1-4A1F-B85B-60975F3D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009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7EEF3"/>
          </a:solidFill>
          <a:ln xmlns:a="http://schemas.openxmlformats.org/drawingml/2006/main" w="0">
            <a:solidFill>
              <a:srgbClr val="E7EE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CB50-DBC6-40EA-BA26-CFC6AE6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876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5DC1A-CB36-4557-A443-102CAFD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8FA7"/>
                </a:solidFill>
              </a:defRPr>
            </a:pPr>
            <a:r>
              <a:rPr sz="1350" b="1">
                <a:solidFill>
                  <a:srgbClr val="6F8FA7"/>
                </a:solidFill>
              </a:rPr>
              <a:t>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C381D-6068-41BD-867C-8E04CEF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194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滚动摘要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D1BD0-D7B1-44C8-90D7-9C877E1E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仅保留目标、重要约束、结论、进展与未解决问题；不记录寒暄，限制在 700 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4E595-91DA-42B9-B75D-5A610781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4916F"/>
                </a:solidFill>
              </a:defRPr>
            </a:pPr>
            <a:r>
              <a:rPr sz="1875" b="1">
                <a:solidFill>
                  <a:srgbClr val="D4916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C9CAF-8E0F-40E0-BCD9-5BC794E6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2009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EB63E-E7CB-4D80-ADCE-681C0CB9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76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13E9E-293D-4A42-8113-2A08876B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9783"/>
                </a:solidFill>
              </a:defRPr>
            </a:pPr>
            <a:r>
              <a:rPr sz="1350" b="1">
                <a:solidFill>
                  <a:srgbClr val="739783"/>
                </a:solidFill>
              </a:rPr>
              <a:t>长期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2A874-3218-444B-A8F6-9ECB79C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148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长期画像证据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C05B3-D8D5-48FC-82BB-E0C28C6F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按六维保存证据原文、来源消息、置信度与长期 / 短期作用域。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AF711-072B-4AB1-BAF6-DE36EDF0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322D"/>
                </a:solidFill>
              </a:defRPr>
            </a:pPr>
            <a:r>
              <a:rPr sz="2100" b="1">
                <a:solidFill>
                  <a:srgbClr val="3B322D"/>
                </a:solidFill>
              </a:rPr>
              <a:t>临时状态单独保存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22397-328B-43D5-8105-FF483D42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050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6F7A7-92C3-47BD-84A9-944D3B6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精力、情绪、可用时间、当前困惑等不进入长期画像。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1281D-4B84-4F72-9762-EE87004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BCCDA-228E-48B6-B4FE-2A1C9EE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12 小时后清理即时状态；待处理计划动作最多保留 7 天。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7EC87-D565-49E4-AD71-443B544C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86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E3405-B698-4CE7-A942-53976C39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上一轮澄清完成后，智能体恢复挂起动作并合并前后要求。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E677A8-44C4-4CF0-BD64-7E433547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39783"/>
                </a:solidFill>
              </a:defRPr>
            </a:pPr>
            <a:r>
              <a:rPr sz="1575" b="1">
                <a:solidFill>
                  <a:srgbClr val="739783"/>
                </a:solidFill>
              </a:rPr>
              <a:t>效果：既能延续学习方向，又不会把一次疲惫永久误判成学习能力。</a:t>
            </a:r>
          </a:p>
        </p:txBody>
      </p:sp>
    </p:spTree>
    <p:extLst>
      <p:ext uri="{BB962C8B-B14F-4D97-AF65-F5344CB8AC3E}">
        <p14:creationId xmlns:p14="http://schemas.microsoft.com/office/powerpoint/2010/main" val="1880699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23B28-CE29-43B0-9DB5-056F625F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INTENT &amp; DIALOGUE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69DDD-BE1E-4CC9-84E0-14EDD5BF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先判断“用户要什么”，再决定“系统做什么”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B6898-F2BC-4A12-AD92-1E7EE28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BD122-4271-4293-B56B-A6BF910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63330-CE59-4AAE-AD3D-B5E1CBB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960"/>
                </a:solidFill>
              </a:defRPr>
            </a:pPr>
            <a:r>
              <a:rPr sz="1800" b="0">
                <a:solidFill>
                  <a:srgbClr val="776960"/>
                </a:solidFill>
              </a:rPr>
              <a:t>决策中枢支持 8 类学习意图，并将计划动作与对话状态显式记录，便于调试、回放与质量评估。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CD1A6-0C83-43E3-A2B2-BC21C12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105FB-8010-40A3-844C-309B7FF3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学习问答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9F190-0B60-4165-8F62-73612BE1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DEB08-4000-45F8-A78E-0277062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画像发现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8893E-3218-4E16-A6C7-07DF30D6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C7509-7C7B-42B4-AA83-77CA87C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创建计划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886CC-8C42-47E1-A4F3-5504024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D1EB5-42F8-454C-9050-669B89D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修订计划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79F26-05D9-4241-A027-7BA26FB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6F00-129D-496A-8DC6-06D7BA6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成果评价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9822B-B964-4490-940D-0BF611E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DECA6-07FD-493F-BA17-71D1CD6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进度复盘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E7543-C144-4A40-BAF1-B496B24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BC98E-469E-45AA-9131-B357D27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资源查询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8E3C6-24D6-4B6F-8AF8-36F9E553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2419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CC3A0-9E9A-4BE9-BAE8-9FE82D1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轻松对话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3925D-E07E-49C8-8C4C-7FA4B5DB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21041-BA3C-45DA-9FBE-3CC6B19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858"/>
                </a:solidFill>
              </a:defRPr>
            </a:pPr>
            <a:r>
              <a:rPr sz="1875" b="1">
                <a:solidFill>
                  <a:srgbClr val="B87858"/>
                </a:solidFill>
              </a:rPr>
              <a:t>计划动作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85CB5-A4FC-4366-B53D-4445CA6A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0"/>
            <a:ext cx="941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创建 · 完整重做 · 修改指定周 · 调整难度 · 调整节奏 · 改变方向 · 调整资源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398F0-DD8F-43C6-9645-E6F7D054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6BA6B3-085A-41A1-86EB-F4A24B5C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只问一个高信息量问题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74872-9C6E-40CC-AB2C-261C15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当缺失信息会显著改变结果时，执行动作暂置为 none，原动作保存在 requested_plan_action。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25BDA-8EEE-4FC9-9F8A-53FB0E5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28129-4A46-455D-B9C0-218DD8BA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“帮我调整学习计划” → “你希望调整第几周，以及主要想改难度、内容还是任务量？”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EB303-FB22-4460-87D0-7E9C54F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9783"/>
                </a:solidFill>
              </a:defRPr>
            </a:pPr>
            <a:r>
              <a:rPr sz="1500" b="1">
                <a:solidFill>
                  <a:srgbClr val="739783"/>
                </a:solidFill>
              </a:rPr>
              <a:t>回答澄清后，挂起动作会自动恢复，避免用户重复描述完整需求。</a:t>
            </a:r>
          </a:p>
        </p:txBody>
      </p:sp>
    </p:spTree>
    <p:extLst>
      <p:ext uri="{BB962C8B-B14F-4D97-AF65-F5344CB8AC3E}">
        <p14:creationId xmlns:p14="http://schemas.microsoft.com/office/powerpoint/2010/main" val="237774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579EB-B33A-42E0-9646-1C3B5E8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RESPONSE &amp;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C7D0E-2917-4243-A006-DA2AD260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回复生成之后，还要经过一次质量审查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5813B-8D11-47A8-80C0-B18CAE2F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046ED-92E2-4402-9077-765590B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B46FD-EFD8-4A81-8332-613CCE4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生成输入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D4EFB-653D-4825-9E2B-19DA940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画像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AB72B-019E-465E-A880-D416838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六维结构决定解释起点、案例和节奏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8B14F-3756-46CD-856D-73667A1C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780B7-AE48-45C8-BF58-AC95631B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摘要、临时状态和未解决问题保持连续性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54CF4-E28B-4C83-9940-67F5258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1A694-7308-4FF3-9E16-150C938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当前周任务与计划版本提供行动语境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C8B71-AAE1-4F7C-B92F-5C4429B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7CE6B-EA1D-4112-AC2F-A153FCB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481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课程资料与检索上下文提供事实依据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9CB36-EBF9-4756-B7EE-6E05CB46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E5781-FCDE-412B-B4A0-8B33607D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意图、对话状态与计划动作约束输出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89029-E913-426D-B0EF-8365F34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33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916F"/>
                </a:solidFill>
              </a:defRPr>
            </a:pPr>
            <a:r>
              <a:rPr sz="28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C725F-0CBC-4ADD-9538-D47A6C7D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266950" cy="31242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D9DEC-9947-4990-A104-20BF43E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322D"/>
                </a:solidFill>
              </a:defRPr>
            </a:pPr>
            <a:r>
              <a:rPr sz="2250" b="1">
                <a:solidFill>
                  <a:srgbClr val="3B322D"/>
                </a:solidFill>
              </a:rPr>
              <a:t>个性化回复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75C70-BC43-4549-9E6C-523FB25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1847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Markdown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SSE 流式输出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视觉 / 文字 / 实践偏好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明确下一步行动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29388-138F-465C-B1E9-F21C027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916F"/>
                </a:solidFill>
              </a:defRPr>
            </a:pPr>
            <a:r>
              <a:rPr sz="28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0E0BD-2202-4444-95F4-B6F70AB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954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双层质量检查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6D201-FE53-4828-8874-34895604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9783"/>
                </a:solidFill>
              </a:defRPr>
            </a:pPr>
            <a:r>
              <a:rPr sz="975" b="1">
                <a:solidFill>
                  <a:srgbClr val="739783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A016F-EB72-40D7-8A0F-1CC1479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322D"/>
                </a:solidFill>
              </a:defRPr>
            </a:pPr>
            <a:r>
              <a:rPr sz="1500" b="0">
                <a:solidFill>
                  <a:srgbClr val="3B322D"/>
                </a:solidFill>
              </a:rPr>
              <a:t>确定性规则检测空回复、模板重复、过长、画像堆砌和近期高相似。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948CB-E29B-4EF1-8FDD-CE290C8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337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9783"/>
                </a:solidFill>
              </a:defRPr>
            </a:pPr>
            <a:r>
              <a:rPr sz="975" b="1">
                <a:solidFill>
                  <a:srgbClr val="739783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2F687-3AE9-44EA-9388-94442B3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322D"/>
                </a:solidFill>
              </a:defRPr>
            </a:pPr>
            <a:r>
              <a:rPr sz="1500" b="0">
                <a:solidFill>
                  <a:srgbClr val="3B322D"/>
                </a:solidFill>
              </a:rPr>
              <a:t>模型复核检查相关性、个性化、事实性、可执行性和表达质量。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E0957-B7D0-430D-B14D-AB6ED544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38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9783"/>
                </a:solidFill>
              </a:defRPr>
            </a:pPr>
            <a:r>
              <a:rPr sz="975" b="1">
                <a:solidFill>
                  <a:srgbClr val="739783"/>
                </a:solidFill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BB561-72EF-4125-929B-0C5C2F8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291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B322D"/>
                </a:solidFill>
              </a:defRPr>
            </a:pPr>
            <a:r>
              <a:rPr sz="1500" b="0">
                <a:solidFill>
                  <a:srgbClr val="3B322D"/>
                </a:solidFill>
              </a:rPr>
              <a:t>评分低于阈值时自动重写；决策与质量结果同时持久化。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98A04-BAC5-4AA2-8EB0-8186D5AF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C9C06-6061-4D19-86AF-32C4FF4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042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目标：回答不仅“像 AI”，还必须与当前学习者、当前计划和当前任务真正相关。</a:t>
            </a:r>
          </a:p>
        </p:txBody>
      </p:sp>
    </p:spTree>
    <p:extLst>
      <p:ext uri="{BB962C8B-B14F-4D97-AF65-F5344CB8AC3E}">
        <p14:creationId xmlns:p14="http://schemas.microsoft.com/office/powerpoint/2010/main" val="14372032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6543F-8524-4320-AC80-58CA463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PLAN GENERATION &amp;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24934-44D3-499D-B309-9242B38A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计划既能生成，也能只改用户指定的部分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3116E-5A08-4A54-BE76-23427BB5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F87C4-A592-497E-B313-2AF45003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9B7D-E22B-4981-A413-0546728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181850" cy="461010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1CB6-253A-488E-AA1B-98D021F3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71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322D"/>
                </a:solidFill>
              </a:defRPr>
            </a:pPr>
            <a:r>
              <a:rPr sz="2100" b="1">
                <a:solidFill>
                  <a:srgbClr val="3B322D"/>
                </a:solidFill>
              </a:rPr>
              <a:t>四周计划的细节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03847-5064-45A2-B6C8-C6DC787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740C8-F32A-4D53-BCDA-8FCFCE52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计划智能体根据画像生成每周主题与可执行任务。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4AA71-1365-48F5-871F-160BA7B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7A062-0162-44C0-A49A-331C539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3105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资源智能体为每周匹配 2 个资源，并保留平台、类型与链接。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93B0B-E7BF-4CC5-A924-9AB75D7E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76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27C44-8994-4465-87CA-938E1D6F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用户可以反馈“有帮助 / 不适合”，继续校准推荐。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00ED9-8478-47B3-B7CC-739B7D1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0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A0DF4-25E3-47F3-8E4C-DDE451B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修改指定周或资源时，合并逻辑保护未涉及周；所有计划保留版本。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7b9eb2f45458e"/>
          <a:stretch xmlns:a="http://schemas.openxmlformats.org/drawingml/2006/main"/>
        </p:blipFill>
        <p:spPr>
          <a:xfrm xmlns:a="http://schemas.openxmlformats.org/drawingml/2006/main">
            <a:off x="609600" y="1996083"/>
            <a:ext cx="6991350" cy="3932634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</p:spTree>
    <p:extLst>
      <p:ext uri="{BB962C8B-B14F-4D97-AF65-F5344CB8AC3E}">
        <p14:creationId xmlns:p14="http://schemas.microsoft.com/office/powerpoint/2010/main" val="1904923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24BC5-8788-435A-BBF3-FD29C8F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PRACTICE &amp; MASTERY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AD710-DBF9-4F55-95FF-FC099A24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练习把计划落地，掌握度把证据可视化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4F268-F98C-415E-BC82-D16F2B4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6E998-54E8-44D9-A793-D0EE549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95198-FB21-4DA4-915F-D7830E3C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911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0904E-E2CE-4975-9074-7CF3265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3911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58A04-A7A0-4234-9117-EE3E4963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858"/>
                </a:solidFill>
              </a:defRPr>
            </a:pPr>
            <a:r>
              <a:rPr sz="1875" b="1">
                <a:solidFill>
                  <a:srgbClr val="B87858"/>
                </a:solidFill>
              </a:rPr>
              <a:t>练习空间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8E863-9D34-4E87-A587-6F19E07B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按周次、任务、题型、难度和数量生成练习；答案自动保存，并提交给智能体评价。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8F97F-6F75-47B7-9A84-DAB4AE33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858"/>
                </a:solidFill>
              </a:defRPr>
            </a:pPr>
            <a:r>
              <a:rPr sz="1875" b="1">
                <a:solidFill>
                  <a:srgbClr val="B87858"/>
                </a:solidFill>
              </a:rPr>
              <a:t>学习总览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34988-7D21-4F7A-A20C-6B903EB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34050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课程—章节—证据三级视图聚合计划覆盖、练习提交与正确率；优先暴露低掌握章节。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f94df76f9455e"/>
          <a:stretch xmlns:a="http://schemas.openxmlformats.org/drawingml/2006/main"/>
        </p:blipFill>
        <p:spPr>
          <a:xfrm xmlns:a="http://schemas.openxmlformats.org/drawingml/2006/main">
            <a:off x="609600" y="1985367"/>
            <a:ext cx="5200650" cy="2925366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bdb4c5fb1492a"/>
          <a:stretch xmlns:a="http://schemas.openxmlformats.org/drawingml/2006/main"/>
        </p:blipFill>
        <p:spPr>
          <a:xfrm xmlns:a="http://schemas.openxmlformats.org/drawingml/2006/main">
            <a:off x="6381750" y="1985367"/>
            <a:ext cx="5200650" cy="2925366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</p:spTree>
    <p:extLst>
      <p:ext uri="{BB962C8B-B14F-4D97-AF65-F5344CB8AC3E}">
        <p14:creationId xmlns:p14="http://schemas.microsoft.com/office/powerpoint/2010/main" val="140775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4469D-DF91-41B9-B8E5-7A9C76D4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GROWTH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CC8AE-2E85-4C15-A487-C1599E4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成果评价把“完成了”升级为“哪里进步了”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1BC5A-EF3C-4051-84BF-C27EA377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D768A-C450-4EF1-A73D-088BD51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9F847-41AF-47CB-B012-1E527F3C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838950" cy="461010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133B9-3251-4891-BEA9-8F971C53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A8063-4A6C-4A7D-87AA-06925E0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24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CD161-80ED-4D85-8E68-ED291B1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绑定任务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70A6-0A51-4789-9DE2-31A10FF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选择具体周与具体小任务，确保版本可精确比较。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C8ED2-7A29-4FB3-B9F1-D8C4136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84EEE-7A5E-4B1A-A241-4CCB360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7FBCF-4F15-4952-B780-8C6325C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90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0C0B8-D37B-4A5A-80FE-27E8E02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解析文件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D600F-6403-41A4-B547-66666DE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支持 PDF / DOCX / TXT，提取内容形成评价输入。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CF3C6-1450-4C67-BF39-845430F1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0FD47-1D5B-468B-9566-152B093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48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60029-DA03-4D5B-843D-352EA027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7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A4939-CDD5-4AB4-AA98-C07A66E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五维评价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BF932-03A2-4987-8946-B5F33D2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完成度、准确性、深度、实践性、表达规范。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DC6BF-E6B5-4F3D-99C0-68D17DCF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56203-CB80-4DF9-AC55-64B88440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49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ED611-AEE3-45C9-A8A6-3FBA037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24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2358A-6723-43F4-ABBF-A1E5B1A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95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进步对比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1E62F-935A-4621-AC07-144657FB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与同一任务上一版比较，给出证据、弱项和下一挑战。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BBCF6-FBB0-4A08-837C-F19FF116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86740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39783"/>
                </a:solidFill>
              </a:defRPr>
            </a:pPr>
            <a:r>
              <a:rPr sz="1575" b="1">
                <a:solidFill>
                  <a:srgbClr val="739783"/>
                </a:solidFill>
              </a:rPr>
              <a:t>评价结论可写回滚动摘要和画像证据，并生成下一轮个性化行动建议。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b105a863c4d3d"/>
          <a:stretch xmlns:a="http://schemas.openxmlformats.org/drawingml/2006/main"/>
        </p:blipFill>
        <p:spPr>
          <a:xfrm xmlns:a="http://schemas.openxmlformats.org/drawingml/2006/main">
            <a:off x="609600" y="2092523"/>
            <a:ext cx="6648450" cy="3739753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</p:spTree>
    <p:extLst>
      <p:ext uri="{BB962C8B-B14F-4D97-AF65-F5344CB8AC3E}">
        <p14:creationId xmlns:p14="http://schemas.microsoft.com/office/powerpoint/2010/main" val="13027597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EF02E-CDE5-427F-A51D-EA20BA2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LIGHT / DARK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90867-A891-4967-BF7A-B89E77D6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浅色与深色模式：同一信息架构，不同阅读氛围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20279-816C-439E-9E19-430F4B8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3108-215E-4F9A-9026-2295EE9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10D4-DD78-4EDB-ABAF-B64F20D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391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3577E-3A67-489F-AA23-3BBD1E5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391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2E3B9-6E60-4E19-8C95-272149B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7858"/>
                </a:solidFill>
              </a:defRPr>
            </a:pPr>
            <a:r>
              <a:rPr sz="2025" b="1">
                <a:solidFill>
                  <a:srgbClr val="B87858"/>
                </a:solidFill>
              </a:rPr>
              <a:t>浅色模式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FC330-E743-4E4C-84A0-92859200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01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暖白 + 米灰 + 陶土橙；更适合日间、长时间阅读与演示场景。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B3323-AB5D-458B-BBF8-324E9C97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深色模式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923E2-0D09-472E-839E-7A6992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1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深棕灰 + 柔和橙；降低暗环境亮度刺激，同时保留品牌识别。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141F2-10A0-4D5C-9571-F857C992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1722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639BC-8D58-44B3-B928-9436968A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9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跟随系统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35A46-E0EB-447B-A8E4-E21DB8C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7220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4FD95-BCC7-413D-8FB3-616940B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91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浅色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0F504-48CB-4413-BF2C-E573C73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7220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32D29"/>
          </a:solidFill>
          <a:ln xmlns:a="http://schemas.openxmlformats.org/drawingml/2006/main" w="0">
            <a:solidFill>
              <a:srgbClr val="332D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8742C-E4EE-4587-92D2-793BB40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深色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4337289a3480e"/>
          <a:stretch xmlns:a="http://schemas.openxmlformats.org/drawingml/2006/main"/>
        </p:blipFill>
        <p:spPr>
          <a:xfrm xmlns:a="http://schemas.openxmlformats.org/drawingml/2006/main">
            <a:off x="619125" y="1847850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6dc4c17984f2e"/>
          <a:stretch xmlns:a="http://schemas.openxmlformats.org/drawingml/2006/main"/>
        </p:blipFill>
        <p:spPr>
          <a:xfrm xmlns:a="http://schemas.openxmlformats.org/drawingml/2006/main">
            <a:off x="6391275" y="1847850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</p:spTree>
    <p:extLst>
      <p:ext uri="{BB962C8B-B14F-4D97-AF65-F5344CB8AC3E}">
        <p14:creationId xmlns:p14="http://schemas.microsoft.com/office/powerpoint/2010/main" val="345605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EC61F-9A3A-4216-AC58-38DED3B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HYBRID MULTI-AGENT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F792A-6855-49F0-87C9-AAB6D2B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B322D"/>
                </a:solidFill>
              </a:defRPr>
            </a:pPr>
            <a:r>
              <a:rPr sz="3600" b="1">
                <a:solidFill>
                  <a:srgbClr val="3B322D"/>
                </a:solidFill>
              </a:rPr>
              <a:t>混合架构让产品体验、业务数据与 AI 编排各司其职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804DD-FB18-4740-9745-A289263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CF3C-72C9-4357-BEC4-71ABE95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11D48-BEE1-4A71-8850-D42ACC9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SSE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09872-5EC6-4728-9F7E-99648210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0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858"/>
                </a:solidFill>
              </a:defRPr>
            </a:pPr>
            <a:r>
              <a:rPr sz="900" b="1">
                <a:solidFill>
                  <a:srgbClr val="B87858"/>
                </a:solidFill>
              </a:rPr>
              <a:t>HTTP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14FD-C016-4EAA-AD77-50ABC70A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858"/>
                </a:solidFill>
              </a:defRPr>
            </a:pPr>
            <a:r>
              <a:rPr sz="900" b="1">
                <a:solidFill>
                  <a:srgbClr val="B87858"/>
                </a:solidFill>
              </a:rPr>
              <a:t>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EA36F-C353-4E6E-AF7E-2BCC99FC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90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4916F"/>
                </a:solidFill>
              </a:defRPr>
            </a:pPr>
            <a:r>
              <a:rPr sz="20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DED15-E785-4FF6-91BF-99A75D4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4916F"/>
                </a:solidFill>
              </a:defRPr>
            </a:pPr>
            <a:r>
              <a:rPr sz="20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13E96-B28F-4B86-8040-467D605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4916F"/>
                </a:solidFill>
              </a:defRPr>
            </a:pPr>
            <a:r>
              <a:rPr sz="20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EDFB6-8871-4010-A240-BF044BD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2669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967B1-BA50-43A7-BE3F-913B03F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Vue 3 前端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E1A63-BBD4-4ECD-ADED-3640B032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聊天 · 画像 · 计划</a:t>
            </a:r>
          </a:p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练习 · 总览 · Live2D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E950B-FA30-4FB2-AFE2-350DA4D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669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BA57E-424C-427E-A8B2-55B1E9F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Spring Boot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23021-3CC5-4B8B-B102-30880202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认证 · REST · SSE</a:t>
            </a:r>
          </a:p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JPA · MySQL 持久化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C9940-7B4F-4F04-965C-E724CF61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574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19050">
            <a:solidFill>
              <a:srgbClr val="D491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F4F50-8097-475D-9917-97A4E12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FastAPI + LangChain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7D428-815E-443D-A0A6-A1A7E24F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决策 · 画像 · 规划</a:t>
            </a:r>
          </a:p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生成 · 审核 · 降级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8A616-D6D1-4854-B61C-238D4D6A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25908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D1F87-17FF-4571-8CBB-E87DC8B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MiMo-v2.5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24435-51E2-4B11-B8CF-A3FB467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统一模型能力</a:t>
            </a:r>
          </a:p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OpenAI 兼容接口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FB77A-9375-4588-8C75-2664C35C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322D"/>
                </a:solidFill>
              </a:defRPr>
            </a:pPr>
            <a:r>
              <a:rPr sz="2100" b="1">
                <a:solidFill>
                  <a:srgbClr val="3B322D"/>
                </a:solidFill>
              </a:rPr>
              <a:t>10 个智能体角色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FFBFE-07F3-4EC4-97F3-91E73ED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决策画像｜对话导师｜回答审核｜学习计划｜资源推荐</a:t>
            </a:r>
          </a:p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出题蓝图｜候选题生成｜题目审核｜标题生成｜成长评价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F3253-C7D9-40C8-8706-71086CA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9BD66-EC1A-413E-BE09-098E5302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39783"/>
                </a:solidFill>
              </a:defRPr>
            </a:pPr>
            <a:r>
              <a:rPr sz="1800" b="1">
                <a:solidFill>
                  <a:srgbClr val="739783"/>
                </a:solidFill>
              </a:rPr>
              <a:t>可观测与可恢复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AE4F0-712B-49C6-9AB6-01D88833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768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B322D"/>
                </a:solidFill>
              </a:defRPr>
            </a:pPr>
            <a:r>
              <a:rPr sz="1500" b="0">
                <a:solidFill>
                  <a:srgbClr val="3B322D"/>
                </a:solidFill>
              </a:rPr>
              <a:t>决策记录、质量评分、超时、重试、规则降级与数据库版本共同保护核心链路。</a:t>
            </a:r>
          </a:p>
        </p:txBody>
      </p:sp>
    </p:spTree>
    <p:extLst>
      <p:ext uri="{BB962C8B-B14F-4D97-AF65-F5344CB8AC3E}">
        <p14:creationId xmlns:p14="http://schemas.microsoft.com/office/powerpoint/2010/main" val="1904897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C567F-776D-49B4-9918-05E5571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858"/>
                </a:solidFill>
              </a:defRPr>
            </a:pPr>
            <a:r>
              <a:rPr sz="1350" b="1">
                <a:solidFill>
                  <a:srgbClr val="B87858"/>
                </a:solidFill>
              </a:rPr>
              <a:t>PROJECT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4ABB7-CDCB-40FF-AF57-FA221A4D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B322D"/>
                </a:solidFill>
              </a:defRPr>
            </a:pPr>
            <a:r>
              <a:rPr sz="4050" b="1">
                <a:solidFill>
                  <a:srgbClr val="3B322D"/>
                </a:solidFill>
              </a:rPr>
              <a:t>从一次回答，走向长期学习陪伴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4E580-79C3-4717-B6C1-93E2D2E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76960"/>
                </a:solidFill>
              </a:defRPr>
            </a:pPr>
            <a:r>
              <a:rPr sz="2025" b="0">
                <a:solidFill>
                  <a:srgbClr val="776960"/>
                </a:solidFill>
              </a:rPr>
              <a:t>项目已形成可运行的完整链路，并把“个性化”落实为可解释的决策、可执行的计划和可验证的成长证据。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4458C-2146-4903-A8F4-9071189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B1146-9C0F-4415-B764-066CFFA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画像有依据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F3AAA-2B03-4D43-B736-4558D2F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六维画像、证据阈值与临时状态分离，降低误判。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701D-721E-4446-BA8D-263571D9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5B42-5FC0-43F5-8DFE-B315B18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行动可调整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1D20A-356B-41E4-90CA-BF19EC1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四周计划、资源、练习和局部修订形成连续行动。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D957C-1E04-499F-AC51-FC30E61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5F0E5-DCE9-4558-9C16-60232BEA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结果能验证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BEB0-F8FA-4778-8BAF-2E8A1483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质量审查、掌握度与成果版本让成长有据可查。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908A8-E5B4-4902-A2F4-A60A18B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B2E87-597A-4FDB-A72C-5B08616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下一步：丰富真实学习数据 · 持续评测资源有效性 · 完善部署监控 · 扩展知识点级掌握证据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F7F96-81D2-46DC-A4C0-9F448FE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858"/>
                </a:solidFill>
              </a:defRPr>
            </a:pPr>
            <a:r>
              <a:rPr sz="1575" b="1">
                <a:solidFill>
                  <a:srgbClr val="B87858"/>
                </a:solidFill>
              </a:rPr>
              <a:t>让系统不仅“会回答”，更能理解、规划、陪练并验证每个学习者的进步。</a:t>
            </a:r>
          </a:p>
        </p:txBody>
      </p:sp>
    </p:spTree>
    <p:extLst>
      <p:ext uri="{BB962C8B-B14F-4D97-AF65-F5344CB8AC3E}">
        <p14:creationId xmlns:p14="http://schemas.microsoft.com/office/powerpoint/2010/main" val="1775664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2026-07-19T16:21:31.1830000Z</dcterms:created>
  <dcterms:modified xsi:type="dcterms:W3CDTF">2026-07-19T16:21:31.1830000Z</dcterms:modified>
</coreProperties>
</file>