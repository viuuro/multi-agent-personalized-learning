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bcb746b1df4b21" /><Relationship Type="http://schemas.openxmlformats.org/officeDocument/2006/relationships/extended-properties" Target="/docProps/app.xml" Id="Rf779014e5bb640cb" /><Relationship Type="http://schemas.openxmlformats.org/officeDocument/2006/relationships/officeDocument" Target="/ppt/presentation.xml" Id="Rd1cbbb2b18c243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36193b7924b67"/>
  </p:sldMasterIdLst>
  <p:notesMasterIdLst>
    <p:notesMasterId xmlns:r="http://schemas.openxmlformats.org/officeDocument/2006/relationships" r:id="R8f4df77b89d84a14"/>
  </p:notesMasterIdLst>
  <p:sldIdLst>
    <p:sldId xmlns:r="http://schemas.openxmlformats.org/officeDocument/2006/relationships" id="256" r:id="Reebe506658f74f28"/>
    <p:sldId xmlns:r="http://schemas.openxmlformats.org/officeDocument/2006/relationships" id="257" r:id="R22e341bee6e24795"/>
    <p:sldId xmlns:r="http://schemas.openxmlformats.org/officeDocument/2006/relationships" id="258" r:id="Re564652dd22e4c29"/>
    <p:sldId xmlns:r="http://schemas.openxmlformats.org/officeDocument/2006/relationships" id="259" r:id="Rc8018e5aba5e40c6"/>
    <p:sldId xmlns:r="http://schemas.openxmlformats.org/officeDocument/2006/relationships" id="260" r:id="R3fb95b46d2704496"/>
    <p:sldId xmlns:r="http://schemas.openxmlformats.org/officeDocument/2006/relationships" id="261" r:id="R6cea59a134184998"/>
    <p:sldId xmlns:r="http://schemas.openxmlformats.org/officeDocument/2006/relationships" id="262" r:id="Rf4f3e82092424417"/>
    <p:sldId xmlns:r="http://schemas.openxmlformats.org/officeDocument/2006/relationships" id="263" r:id="Rdc02b89f57514b6d"/>
    <p:sldId xmlns:r="http://schemas.openxmlformats.org/officeDocument/2006/relationships" id="264" r:id="Re047a564d0544d2b"/>
    <p:sldId xmlns:r="http://schemas.openxmlformats.org/officeDocument/2006/relationships" id="265" r:id="R53190a80e60441a7"/>
    <p:sldId xmlns:r="http://schemas.openxmlformats.org/officeDocument/2006/relationships" id="266" r:id="R8c91b137bbdb492e"/>
    <p:sldId xmlns:r="http://schemas.openxmlformats.org/officeDocument/2006/relationships" id="267" r:id="R05b181b66ebf4295"/>
    <p:sldId xmlns:r="http://schemas.openxmlformats.org/officeDocument/2006/relationships" id="268" r:id="Rdb6f6480b26345d7"/>
    <p:sldId xmlns:r="http://schemas.openxmlformats.org/officeDocument/2006/relationships" id="269" r:id="Rf2bd0d60e18147ac"/>
    <p:sldId xmlns:r="http://schemas.openxmlformats.org/officeDocument/2006/relationships" id="270" r:id="R94e49668f032485a"/>
    <p:sldId xmlns:r="http://schemas.openxmlformats.org/officeDocument/2006/relationships" id="271" r:id="R060a26fd3fd5495d"/>
    <p:sldId xmlns:r="http://schemas.openxmlformats.org/officeDocument/2006/relationships" id="272" r:id="Rd3784a39046a44a4"/>
    <p:sldId xmlns:r="http://schemas.openxmlformats.org/officeDocument/2006/relationships" id="273" r:id="R1207e06b48c4420b"/>
    <p:sldId xmlns:r="http://schemas.openxmlformats.org/officeDocument/2006/relationships" id="274" r:id="R8d4e0e2c9bdd456d"/>
    <p:sldId xmlns:r="http://schemas.openxmlformats.org/officeDocument/2006/relationships" id="275" r:id="R65d54657c37c4e86"/>
    <p:sldId xmlns:r="http://schemas.openxmlformats.org/officeDocument/2006/relationships" id="276" r:id="R114131aad973422b"/>
    <p:sldId xmlns:r="http://schemas.openxmlformats.org/officeDocument/2006/relationships" id="277" r:id="R2009f16da4294631"/>
    <p:sldId xmlns:r="http://schemas.openxmlformats.org/officeDocument/2006/relationships" id="278" r:id="Rc11fdaa723c34564"/>
    <p:sldId xmlns:r="http://schemas.openxmlformats.org/officeDocument/2006/relationships" id="279" r:id="Rac99a6caa5d14954"/>
    <p:sldId xmlns:r="http://schemas.openxmlformats.org/officeDocument/2006/relationships" id="280" r:id="R27af062fb42943a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d2fa2d32d24c6f" /><Relationship Type="http://schemas.openxmlformats.org/officeDocument/2006/relationships/slideMaster" Target="/ppt/slideMasters/slideMaster1.xml" Id="Re9f36193b7924b67" /><Relationship Type="http://schemas.openxmlformats.org/officeDocument/2006/relationships/notesMaster" Target="/ppt/notesMasters/notesMaster1.xml" Id="R8f4df77b89d84a14" /><Relationship Type="http://schemas.openxmlformats.org/officeDocument/2006/relationships/presProps" Target="/ppt/presProps.xml" Id="Rb0eb28d165c04de3" /><Relationship Type="http://schemas.openxmlformats.org/officeDocument/2006/relationships/tableStyles" Target="/ppt/tableStyles.xml" Id="R33aa27721efa4d51" /><Relationship Type="http://schemas.openxmlformats.org/officeDocument/2006/relationships/slide" Target="/ppt/slides/slide1.xml" Id="Reebe506658f74f28" /><Relationship Type="http://schemas.openxmlformats.org/officeDocument/2006/relationships/slide" Target="/ppt/slides/slide2.xml" Id="R22e341bee6e24795" /><Relationship Type="http://schemas.openxmlformats.org/officeDocument/2006/relationships/slide" Target="/ppt/slides/slide3.xml" Id="Re564652dd22e4c29" /><Relationship Type="http://schemas.openxmlformats.org/officeDocument/2006/relationships/slide" Target="/ppt/slides/slide4.xml" Id="Rc8018e5aba5e40c6" /><Relationship Type="http://schemas.openxmlformats.org/officeDocument/2006/relationships/slide" Target="/ppt/slides/slide5.xml" Id="R3fb95b46d2704496" /><Relationship Type="http://schemas.openxmlformats.org/officeDocument/2006/relationships/slide" Target="/ppt/slides/slide6.xml" Id="R6cea59a134184998" /><Relationship Type="http://schemas.openxmlformats.org/officeDocument/2006/relationships/slide" Target="/ppt/slides/slide7.xml" Id="Rf4f3e82092424417" /><Relationship Type="http://schemas.openxmlformats.org/officeDocument/2006/relationships/slide" Target="/ppt/slides/slide8.xml" Id="Rdc02b89f57514b6d" /><Relationship Type="http://schemas.openxmlformats.org/officeDocument/2006/relationships/slide" Target="/ppt/slides/slide9.xml" Id="Re047a564d0544d2b" /><Relationship Type="http://schemas.openxmlformats.org/officeDocument/2006/relationships/slide" Target="/ppt/slides/slide10.xml" Id="R53190a80e60441a7" /><Relationship Type="http://schemas.openxmlformats.org/officeDocument/2006/relationships/slide" Target="/ppt/slides/slide11.xml" Id="R8c91b137bbdb492e" /><Relationship Type="http://schemas.openxmlformats.org/officeDocument/2006/relationships/slide" Target="/ppt/slides/slide12.xml" Id="R05b181b66ebf4295" /><Relationship Type="http://schemas.openxmlformats.org/officeDocument/2006/relationships/slide" Target="/ppt/slides/slide13.xml" Id="Rdb6f6480b26345d7" /><Relationship Type="http://schemas.openxmlformats.org/officeDocument/2006/relationships/slide" Target="/ppt/slides/slide14.xml" Id="Rf2bd0d60e18147ac" /><Relationship Type="http://schemas.openxmlformats.org/officeDocument/2006/relationships/slide" Target="/ppt/slides/slide15.xml" Id="R94e49668f032485a" /><Relationship Type="http://schemas.openxmlformats.org/officeDocument/2006/relationships/slide" Target="/ppt/slides/slide16.xml" Id="R060a26fd3fd5495d" /><Relationship Type="http://schemas.openxmlformats.org/officeDocument/2006/relationships/slide" Target="/ppt/slides/slide17.xml" Id="Rd3784a39046a44a4" /><Relationship Type="http://schemas.openxmlformats.org/officeDocument/2006/relationships/slide" Target="/ppt/slides/slide18.xml" Id="R1207e06b48c4420b" /><Relationship Type="http://schemas.openxmlformats.org/officeDocument/2006/relationships/slide" Target="/ppt/slides/slide19.xml" Id="R8d4e0e2c9bdd456d" /><Relationship Type="http://schemas.openxmlformats.org/officeDocument/2006/relationships/slide" Target="/ppt/slides/slide20.xml" Id="R65d54657c37c4e86" /><Relationship Type="http://schemas.openxmlformats.org/officeDocument/2006/relationships/slide" Target="/ppt/slides/slide21.xml" Id="R114131aad973422b" /><Relationship Type="http://schemas.openxmlformats.org/officeDocument/2006/relationships/slide" Target="/ppt/slides/slide22.xml" Id="R2009f16da4294631" /><Relationship Type="http://schemas.openxmlformats.org/officeDocument/2006/relationships/slide" Target="/ppt/slides/slide23.xml" Id="Rc11fdaa723c34564" /><Relationship Type="http://schemas.openxmlformats.org/officeDocument/2006/relationships/slide" Target="/ppt/slides/slide24.xml" Id="Rac99a6caa5d14954" /><Relationship Type="http://schemas.openxmlformats.org/officeDocument/2006/relationships/slide" Target="/ppt/slides/slide25.xml" Id="R27af062fb42943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2f63f7d45a4a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f03f73252417b" /><Relationship Type="http://schemas.openxmlformats.org/officeDocument/2006/relationships/notesMaster" Target="/ppt/notesMasters/notesMaster1.xml" Id="R510f7970273c49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fa61b2d1044c13" /><Relationship Type="http://schemas.openxmlformats.org/officeDocument/2006/relationships/notesMaster" Target="/ppt/notesMasters/notesMaster1.xml" Id="R511a3cf08ae64e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60b8e6c335446c" /><Relationship Type="http://schemas.openxmlformats.org/officeDocument/2006/relationships/notesMaster" Target="/ppt/notesMasters/notesMaster1.xml" Id="R4fe9cb59ecbd4a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a6568440a34a3b" /><Relationship Type="http://schemas.openxmlformats.org/officeDocument/2006/relationships/notesMaster" Target="/ppt/notesMasters/notesMaster1.xml" Id="Rad619ac4f6f742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d738d73a7d4e4a" /><Relationship Type="http://schemas.openxmlformats.org/officeDocument/2006/relationships/notesMaster" Target="/ppt/notesMasters/notesMaster1.xml" Id="R3742255b4c244a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be1aea4dae4a2e" /><Relationship Type="http://schemas.openxmlformats.org/officeDocument/2006/relationships/notesMaster" Target="/ppt/notesMasters/notesMaster1.xml" Id="Rd1a07b6b421d4b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03ec7d23144bbb" /><Relationship Type="http://schemas.openxmlformats.org/officeDocument/2006/relationships/notesMaster" Target="/ppt/notesMasters/notesMaster1.xml" Id="R39ace7f1d5dd4e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7412f7eb94e29" /><Relationship Type="http://schemas.openxmlformats.org/officeDocument/2006/relationships/notesMaster" Target="/ppt/notesMasters/notesMaster1.xml" Id="Rbb6f69e14b4c4b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241b502cc194114" /><Relationship Type="http://schemas.openxmlformats.org/officeDocument/2006/relationships/notesMaster" Target="/ppt/notesMasters/notesMaster1.xml" Id="R9e37943e801141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98fe462b0e4986" /><Relationship Type="http://schemas.openxmlformats.org/officeDocument/2006/relationships/notesMaster" Target="/ppt/notesMasters/notesMaster1.xml" Id="R83f06c6eec404f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31eadaaf614cc0" /><Relationship Type="http://schemas.openxmlformats.org/officeDocument/2006/relationships/notesMaster" Target="/ppt/notesMasters/notesMaster1.xml" Id="R17755af38e3d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8eb226652504b36" /><Relationship Type="http://schemas.openxmlformats.org/officeDocument/2006/relationships/notesMaster" Target="/ppt/notesMasters/notesMaster1.xml" Id="Re465b4df4a524d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1c65c0f08142b0" /><Relationship Type="http://schemas.openxmlformats.org/officeDocument/2006/relationships/notesMaster" Target="/ppt/notesMasters/notesMaster1.xml" Id="R55985ea1caf141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7b76f9715d46a6" /><Relationship Type="http://schemas.openxmlformats.org/officeDocument/2006/relationships/notesMaster" Target="/ppt/notesMasters/notesMaster1.xml" Id="R2660d89c21bf4ee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0c32c24dec481e" /><Relationship Type="http://schemas.openxmlformats.org/officeDocument/2006/relationships/notesMaster" Target="/ppt/notesMasters/notesMaster1.xml" Id="R906c9b2434544a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442769e424b4f12" /><Relationship Type="http://schemas.openxmlformats.org/officeDocument/2006/relationships/notesMaster" Target="/ppt/notesMasters/notesMaster1.xml" Id="R920fb583196c459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5fd9b11ad54905" /><Relationship Type="http://schemas.openxmlformats.org/officeDocument/2006/relationships/notesMaster" Target="/ppt/notesMasters/notesMaster1.xml" Id="Rac30345e4954488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f8eb20520834d51" /><Relationship Type="http://schemas.openxmlformats.org/officeDocument/2006/relationships/notesMaster" Target="/ppt/notesMasters/notesMaster1.xml" Id="R5149538336844dc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e2852cf4ec4015" /><Relationship Type="http://schemas.openxmlformats.org/officeDocument/2006/relationships/notesMaster" Target="/ppt/notesMasters/notesMaster1.xml" Id="Rd5e4bbdb0cf646f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4dbacadc3644a7" /><Relationship Type="http://schemas.openxmlformats.org/officeDocument/2006/relationships/notesMaster" Target="/ppt/notesMasters/notesMaster1.xml" Id="R4032825f807247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bffac99c948471e" /><Relationship Type="http://schemas.openxmlformats.org/officeDocument/2006/relationships/notesMaster" Target="/ppt/notesMasters/notesMaster1.xml" Id="R79a05b8dfdcb445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edff1e658a74319" /><Relationship Type="http://schemas.openxmlformats.org/officeDocument/2006/relationships/notesMaster" Target="/ppt/notesMasters/notesMaster1.xml" Id="R54bc7a9c76d54a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e0283fa02c4a2f" /><Relationship Type="http://schemas.openxmlformats.org/officeDocument/2006/relationships/notesMaster" Target="/ppt/notesMasters/notesMaster1.xml" Id="R78730236bd0347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ecf3d831324b10" /><Relationship Type="http://schemas.openxmlformats.org/officeDocument/2006/relationships/notesMaster" Target="/ppt/notesMasters/notesMaster1.xml" Id="Rffecffe0337c44f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2d1de3cf9914402" /><Relationship Type="http://schemas.openxmlformats.org/officeDocument/2006/relationships/notesMaster" Target="/ppt/notesMasters/notesMaster1.xml" Id="R7f6bd5e5367546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28784aee140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8e44e9b5545e5" /><Relationship Type="http://schemas.openxmlformats.org/officeDocument/2006/relationships/slideLayout" Target="/ppt/slideLayouts/slideLayout1.xml" Id="R043068dfdc384a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3068dfdc384a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951e2d984988" /><Relationship Type="http://schemas.openxmlformats.org/officeDocument/2006/relationships/notesSlide" Target="/ppt/notesSlides/notesSlide1.xml" Id="R96bcd8e33d824f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8830e9e454feb" /><Relationship Type="http://schemas.openxmlformats.org/officeDocument/2006/relationships/notesSlide" Target="/ppt/notesSlides/notesSlide2.xml" Id="Ra686052a980e42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0cc8938404933" /><Relationship Type="http://schemas.openxmlformats.org/officeDocument/2006/relationships/image" Target="/ppt/media/image.jpeg" Id="Re3ea90aeb7fb4c31" /><Relationship Type="http://schemas.openxmlformats.org/officeDocument/2006/relationships/notesSlide" Target="/ppt/notesSlides/notesSlide3.xml" Id="R0a682d2d97b94b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885640a854e18" /><Relationship Type="http://schemas.openxmlformats.org/officeDocument/2006/relationships/notesSlide" Target="/ppt/notesSlides/notesSlide4.xml" Id="R45f377a9579b4b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4683aef6a46f9" /><Relationship Type="http://schemas.openxmlformats.org/officeDocument/2006/relationships/notesSlide" Target="/ppt/notesSlides/notesSlide5.xml" Id="R5fb0204205f64f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8ddef84d547b9" /><Relationship Type="http://schemas.openxmlformats.org/officeDocument/2006/relationships/notesSlide" Target="/ppt/notesSlides/notesSlide6.xml" Id="Ra9bc9e8bba844f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a2eedfc1c4015" /><Relationship Type="http://schemas.openxmlformats.org/officeDocument/2006/relationships/notesSlide" Target="/ppt/notesSlides/notesSlide7.xml" Id="R1ff6413fcd7240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fa398246d4a2f" /><Relationship Type="http://schemas.openxmlformats.org/officeDocument/2006/relationships/notesSlide" Target="/ppt/notesSlides/notesSlide8.xml" Id="R91f95daafefd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2fe1323cf4573" /><Relationship Type="http://schemas.openxmlformats.org/officeDocument/2006/relationships/notesSlide" Target="/ppt/notesSlides/notesSlide9.xml" Id="R01524cc712f244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e5710c0b64131" /><Relationship Type="http://schemas.openxmlformats.org/officeDocument/2006/relationships/notesSlide" Target="/ppt/notesSlides/notesSlide10.xml" Id="Rdb99109ca74f44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a444caa0148dc" /><Relationship Type="http://schemas.openxmlformats.org/officeDocument/2006/relationships/notesSlide" Target="/ppt/notesSlides/notesSlide11.xml" Id="R057916d385f54e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750ac9e474a00" /><Relationship Type="http://schemas.openxmlformats.org/officeDocument/2006/relationships/notesSlide" Target="/ppt/notesSlides/notesSlide12.xml" Id="Rfef1956fd2244af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1fdb5e23674ed1" /><Relationship Type="http://schemas.openxmlformats.org/officeDocument/2006/relationships/notesSlide" Target="/ppt/notesSlides/notesSlide13.xml" Id="Rff8891b0e3704e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d725ca42ff415c" /><Relationship Type="http://schemas.openxmlformats.org/officeDocument/2006/relationships/notesSlide" Target="/ppt/notesSlides/notesSlide14.xml" Id="R428a2cba6f6843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efbe541abd452c" /><Relationship Type="http://schemas.openxmlformats.org/officeDocument/2006/relationships/notesSlide" Target="/ppt/notesSlides/notesSlide15.xml" Id="R761b7bf53d0d4d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6f242d58f47b4" /><Relationship Type="http://schemas.openxmlformats.org/officeDocument/2006/relationships/image" Target="/ppt/media/image2.jpeg" Id="Rc264c9bda1434328" /><Relationship Type="http://schemas.openxmlformats.org/officeDocument/2006/relationships/notesSlide" Target="/ppt/notesSlides/notesSlide16.xml" Id="R2b8fd27d2d4d4d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77e3da8a84d4b" /><Relationship Type="http://schemas.openxmlformats.org/officeDocument/2006/relationships/notesSlide" Target="/ppt/notesSlides/notesSlide17.xml" Id="R7c5cc763d34d4ce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4bc50fe0a44e7" /><Relationship Type="http://schemas.openxmlformats.org/officeDocument/2006/relationships/notesSlide" Target="/ppt/notesSlides/notesSlide18.xml" Id="R3869ea4ec2fa420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699bacada4fcb" /><Relationship Type="http://schemas.openxmlformats.org/officeDocument/2006/relationships/image" Target="/ppt/media/image3.jpeg" Id="Rbdaa2e7452484fba" /><Relationship Type="http://schemas.openxmlformats.org/officeDocument/2006/relationships/notesSlide" Target="/ppt/notesSlides/notesSlide19.xml" Id="R5cf97c9968764c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6c6bb9fa9453b" /><Relationship Type="http://schemas.openxmlformats.org/officeDocument/2006/relationships/notesSlide" Target="/ppt/notesSlides/notesSlide20.xml" Id="R7e1c09a9638b41b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1df312d384073" /><Relationship Type="http://schemas.openxmlformats.org/officeDocument/2006/relationships/image" Target="/ppt/media/image4.jpeg" Id="Rf18ac681766c4342" /><Relationship Type="http://schemas.openxmlformats.org/officeDocument/2006/relationships/notesSlide" Target="/ppt/notesSlides/notesSlide21.xml" Id="Ra89435417a364af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a662ecede48d8" /><Relationship Type="http://schemas.openxmlformats.org/officeDocument/2006/relationships/image" Target="/ppt/media/image5.jpeg" Id="Ra290c04f5d1947ee" /><Relationship Type="http://schemas.openxmlformats.org/officeDocument/2006/relationships/notesSlide" Target="/ppt/notesSlides/notesSlide22.xml" Id="R56af6a305abb421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b47f43fbf4cc3" /><Relationship Type="http://schemas.openxmlformats.org/officeDocument/2006/relationships/image" Target="/ppt/media/image6.jpeg" Id="R59fe6268439e474c" /><Relationship Type="http://schemas.openxmlformats.org/officeDocument/2006/relationships/image" Target="/ppt/media/image7.jpeg" Id="Rb80d5ca6e66c4034" /><Relationship Type="http://schemas.openxmlformats.org/officeDocument/2006/relationships/notesSlide" Target="/ppt/notesSlides/notesSlide23.xml" Id="R26952af14a5d496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16a77bc71457b" /><Relationship Type="http://schemas.openxmlformats.org/officeDocument/2006/relationships/notesSlide" Target="/ppt/notesSlides/notesSlide24.xml" Id="R9282e1f0fc37417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4b08c6c064ae0" /><Relationship Type="http://schemas.openxmlformats.org/officeDocument/2006/relationships/notesSlide" Target="/ppt/notesSlides/notesSlide25.xml" Id="R98474c15c72c43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A9010-A489-4F17-A374-BBDE80AD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9684F-3D9A-4D28-BED0-3B74B517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858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858"/>
                </a:solidFill>
              </a:defRPr>
            </a:pPr>
            <a:r>
              <a:rPr sz="1350" b="1">
                <a:solidFill>
                  <a:srgbClr val="B87858"/>
                </a:solidFill>
              </a:rPr>
              <a:t>PERSONALIZED LEARNING · MULTI-AGENT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120D9-BBF0-479F-A7B1-299CC0A41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752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550" b="1">
                <a:solidFill>
                  <a:srgbClr val="3B322D"/>
                </a:solidFill>
              </a:defRPr>
            </a:pPr>
            <a:r>
              <a:rPr sz="5550" b="1">
                <a:solidFill>
                  <a:srgbClr val="3B322D"/>
                </a:solidFill>
              </a:rPr>
              <a:t>个性化学习</a:t>
            </a:r>
          </a:p>
          <a:p xmlns:a="http://schemas.openxmlformats.org/drawingml/2006/main">
            <a:pPr algn="l">
              <a:defRPr sz="5550" b="1">
                <a:solidFill>
                  <a:srgbClr val="3B322D"/>
                </a:solidFill>
              </a:defRPr>
            </a:pPr>
            <a:r>
              <a:rPr sz="5550" b="1">
                <a:solidFill>
                  <a:srgbClr val="3B322D"/>
                </a:solidFill>
              </a:rPr>
              <a:t>多智能体系统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4EA655-2062-40EE-A365-B53A2C5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776960"/>
                </a:solidFill>
              </a:defRPr>
            </a:pPr>
            <a:r>
              <a:rPr sz="2550" b="0">
                <a:solidFill>
                  <a:srgbClr val="776960"/>
                </a:solidFill>
              </a:rPr>
              <a:t>详细功能与技术实现介绍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5B0E7-9791-4A12-98CB-986BF43D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9EB52-B369-4598-BA2B-4ED8685A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从画像证据、对话决策、计划与练习，到成果评价和掌握度闭环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6C52FF-F58C-414C-8E41-591B7DE9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20383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652DF-39A9-4E14-A1F8-B9EB6766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1885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25 页浅色详细版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8EF99-3BC1-418F-A502-3465370A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102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A4958C"/>
                </a:solidFill>
              </a:defRPr>
            </a:pPr>
            <a:r>
              <a:rPr sz="1350" b="0">
                <a:solidFill>
                  <a:srgbClr val="A4958C"/>
                </a:solidFill>
              </a:rPr>
              <a:t>Spring Boot · FastAPI · LangChain · MiMo-v2.5 · Vue 3</a:t>
            </a:r>
          </a:p>
        </p:txBody>
      </p:sp>
    </p:spTree>
    <p:extLst>
      <p:ext uri="{BB962C8B-B14F-4D97-AF65-F5344CB8AC3E}">
        <p14:creationId xmlns:p14="http://schemas.microsoft.com/office/powerpoint/2010/main" val="997208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45828-97D2-4603-901D-E0E2716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WHY THIS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F25C1-B4C1-4E55-8768-49C397E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学习陪伴需要连续理解，而不只是连续聊天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9C4D9-768C-490D-9653-FD4785E64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B36010-2CFC-4864-A028-06FD8350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74194-0F92-4006-A34E-4E7A394A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76960"/>
                </a:solidFill>
              </a:defRPr>
            </a:pPr>
            <a:r>
              <a:rPr sz="2025" b="0">
                <a:solidFill>
                  <a:srgbClr val="776960"/>
                </a:solidFill>
              </a:rPr>
              <a:t>普通问答只处理眼前问题；长期学习还需要记住目标、识别变化、形成行动，并验证是否真的进步。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C7BE9-A397-423B-BD2B-018C4665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7858"/>
                </a:solidFill>
              </a:defRPr>
            </a:pPr>
            <a:r>
              <a:rPr sz="2550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611D96-7778-4AB6-A5E6-8A00D286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理解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A6E79-69D2-41B5-BA63-5C27AF8D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把用户表达转化为画像、临时状态和当前意图。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3C73F-4B5E-409B-ABC6-B97D4E38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6225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3CD3A-1F5B-4CD6-BD4B-4CA0AE24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571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7858"/>
                </a:solidFill>
              </a:defRPr>
            </a:pPr>
            <a:r>
              <a:rPr sz="2550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C83AC-C7EB-4264-9D01-4E3AE998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规划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F1FC7-1AC3-4447-A6CB-C43BABFF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752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把目标拆成四周主题、任务和经过验证的资源。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22325-B270-4FCD-B0E2-0EBF5B93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6225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3ACBD5-049D-445B-BC43-092429F0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7858"/>
                </a:solidFill>
              </a:defRPr>
            </a:pPr>
            <a:r>
              <a:rPr sz="2550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0FB4D-E288-423D-AEA2-509E9BC3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陪练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31D40-0D7A-4691-81A6-8FFE83D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52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把每个计划任务转成可配置、可审核的练习。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16E1B9-364B-47E7-9F7A-3241DF8C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9525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2AB3C-3A1F-4876-BC11-7071E709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7858"/>
                </a:solidFill>
              </a:defRPr>
            </a:pPr>
            <a:r>
              <a:rPr sz="2550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64D19A-F28F-4676-AE1C-21767BA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62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6717A2-45A3-4339-A362-38928F96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752850"/>
            <a:ext cx="2247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用作答和成果版本沉淀掌握证据与成长评价。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AAE65-7734-422B-9B6E-8C878910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208F6-17D4-4157-95B4-44F989A2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系统的核心产物不是一段回答，而是一套会随学习者变化的“理解—行动—证据”循环。</a:t>
            </a:r>
          </a:p>
        </p:txBody>
      </p:sp>
    </p:spTree>
    <p:extLst>
      <p:ext uri="{BB962C8B-B14F-4D97-AF65-F5344CB8AC3E}">
        <p14:creationId xmlns:p14="http://schemas.microsoft.com/office/powerpoint/2010/main" val="318362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A32760-C80B-4C7F-BFF2-13053E45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PRODUCT WORKSPACE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15374-2353-45DA-AC26-38726E5B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一个工作台连接学习的全部动作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9FE711-1985-4C50-AC04-F361369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3D89D-356A-4C45-AE8D-8C301824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89421-3D17-4871-BFA7-C0B11098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200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a90aeb7fb4c31"/>
          <a:stretch xmlns:a="http://schemas.openxmlformats.org/drawingml/2006/main"/>
        </p:blipFill>
        <p:spPr>
          <a:xfrm xmlns:a="http://schemas.openxmlformats.org/drawingml/2006/main">
            <a:off x="609600" y="1769864"/>
            <a:ext cx="7829550" cy="4404122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82454-274C-4046-8852-8F6B115D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统一学习空间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98EDB-9EC1-4ADD-BBD1-13DCC04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87EB3-2AE8-48A1-B612-F345BE3A3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38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中央对话区支持 Markdown、图片、文件与 SSE 流式回复。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35D461-D696-4BDF-B92B-871E1821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67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19FEE1-6C80-4BAB-A8BD-E3DDC429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4805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右侧同步呈现六维画像、四周计划和成果入口。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58B95-A8B5-4616-921F-3BCD69BB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4577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57CBA3-40FD-4586-96FD-F95A3231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38650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左侧沉淀活跃度、历史对话和学习文件。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4D126A-551F-4938-B68C-3FA368BD0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448300"/>
            <a:ext cx="2647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用户无需在聊天、计划、练习和数据面板之间切换产品。</a:t>
            </a:r>
          </a:p>
        </p:txBody>
      </p:sp>
    </p:spTree>
    <p:extLst>
      <p:ext uri="{BB962C8B-B14F-4D97-AF65-F5344CB8AC3E}">
        <p14:creationId xmlns:p14="http://schemas.microsoft.com/office/powerpoint/2010/main" val="11564382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484990-65B1-48AD-8D3F-8254D9E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USER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82ACD-0D54-4022-B4BB-92FAF821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学习过程被设计成一条可循环的用户旅程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94AD5A-8764-4E01-8354-82AD0D2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A17E6-A06E-46B9-B656-E5FDC17A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E9ECC-7CF2-419E-B581-6DBB9FCA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每个阶段都产生下一阶段可复用的信息，因此系统不会在新会话中从零开始。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5C620-8622-464A-9D98-9ED91DE5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528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4916F"/>
                </a:solidFill>
              </a:defRPr>
            </a:pPr>
            <a:r>
              <a:rPr sz="25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E10CE-960A-4432-BFA1-66DFF630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528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4916F"/>
                </a:solidFill>
              </a:defRPr>
            </a:pPr>
            <a:r>
              <a:rPr sz="25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98A8BD-513B-4A8C-B177-3F4F7079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528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4916F"/>
                </a:solidFill>
              </a:defRPr>
            </a:pPr>
            <a:r>
              <a:rPr sz="25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3652D-AC7E-4274-A144-6D9988D9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352800"/>
            <a:ext cx="438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4916F"/>
                </a:solidFill>
              </a:defRPr>
            </a:pPr>
            <a:r>
              <a:rPr sz="25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D1AEF-DA95-4D7D-8CC5-29DB8CB6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33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863EB-0C11-4461-80A2-9F094DC6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92910-AD81-4135-B84C-71004AF1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表达现状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CEE589-C745-46CB-A7AE-8BA972F2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问题、目标、时间与困惑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0E798-4CC9-48CD-AAF1-483E1373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33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2A53F3-809E-4026-AF76-28B74045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543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B70C98-BA9B-4B36-A891-49004AC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43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获得讲解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D9A028-9115-4AAE-A642-DABEF80E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790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深度、风格与案例个性化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9D3CED-D63F-4CC8-AF23-4E1EB7F4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33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772FE-428B-4233-8532-A7AADBF7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43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DE877-F53A-484F-85E7-2E3CF24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43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生成计划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CBC22B-D869-4C12-ADBD-64A18BC3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90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四周任务与资源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0EFA2-0E52-449E-9042-2EDB5946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33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F34D63-1DBA-4473-B687-626EE78B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43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A1E8A-9DEB-4EE1-8D6A-2FD122F5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143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完成练习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044F2-3621-495D-9707-3E77E3A7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790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答案、草稿与正确率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D22B0-FED6-453D-8D5F-E82D6DBA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33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E08F10-35B5-45AE-A200-147D9AA2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543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9A7480-5099-4809-8B7E-4C8D143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43250"/>
            <a:ext cx="1581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提交成果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90BE83-18B1-475B-9BC0-17142B21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90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版本、评价与下一挑战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126870-076B-4CB6-A01F-FDABABB5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14900"/>
            <a:ext cx="9334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BEF90-B8CC-43B7-986F-C09BAB63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863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39783"/>
                </a:solidFill>
              </a:defRPr>
            </a:pPr>
            <a:r>
              <a:rPr sz="1650" b="1">
                <a:solidFill>
                  <a:srgbClr val="739783"/>
                </a:solidFill>
              </a:rPr>
              <a:t>评价与作答证据写回画像和记忆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1D93DF-2D8D-4080-8D3F-7C31322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14950"/>
            <a:ext cx="811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下一轮回答、计划修订和资源排序因此拥有更准确的依据。</a:t>
            </a:r>
          </a:p>
        </p:txBody>
      </p:sp>
    </p:spTree>
    <p:extLst>
      <p:ext uri="{BB962C8B-B14F-4D97-AF65-F5344CB8AC3E}">
        <p14:creationId xmlns:p14="http://schemas.microsoft.com/office/powerpoint/2010/main" val="98932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EF3543-10A4-4B65-A566-8FDD8A46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PERSONALIZED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53BAA-13D4-485D-B5AA-5634EF60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个性化智能体在每轮对话中完成六步决策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068E7-43F8-448A-B2C5-49B7EA23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36FE35-F192-416E-AF82-ACA44861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488E62-DFDE-42E2-915A-8137344A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76960"/>
                </a:solidFill>
              </a:defRPr>
            </a:pPr>
            <a:r>
              <a:rPr sz="1800" b="0">
                <a:solidFill>
                  <a:srgbClr val="776960"/>
                </a:solidFill>
              </a:rPr>
              <a:t>规则安全网负责确定性判断，MiMo-v2.5 负责更细致的语义理解和生成。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D5195-6018-4D14-A9C5-4DE615B4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4916F"/>
                </a:solidFill>
              </a:defRPr>
            </a:pPr>
            <a:r>
              <a:rPr sz="23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5D5D3-80B5-4C7C-9FD7-C05AAAF4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4916F"/>
                </a:solidFill>
              </a:defRPr>
            </a:pPr>
            <a:r>
              <a:rPr sz="23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4D474-94ED-4F71-B317-D7E72FE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4916F"/>
                </a:solidFill>
              </a:defRPr>
            </a:pPr>
            <a:r>
              <a:rPr sz="23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2EFE-5B43-4906-ADE3-63AA9D30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4916F"/>
                </a:solidFill>
              </a:defRPr>
            </a:pPr>
            <a:r>
              <a:rPr sz="23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D1A994-EF21-4F5F-B5EC-5984814B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D4916F"/>
                </a:solidFill>
              </a:defRPr>
            </a:pPr>
            <a:r>
              <a:rPr sz="2325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BC1E0-325E-4EE0-8147-60D0B3A2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B1FA5-053C-4F8D-8180-762D2F17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0BF5E-DA12-436E-B070-890CF412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理解输入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C49C71-9C4D-4015-8969-98091D5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识别意图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提取临时状态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AE5E88-6836-4F11-9061-71D4F0E3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0C9178-D386-496B-8E49-163F8A9A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EB9536-E50B-4B87-9F83-E405CA45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维护画像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02389E-1FCB-419F-8BF2-A8A2A1C8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新证据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置信度与作用域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585D1-A3DD-4F2F-9AFD-EB4786F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D8CB"/>
          </a:solidFill>
          <a:ln xmlns:a="http://schemas.openxmlformats.org/drawingml/2006/main" w="19050">
            <a:solidFill>
              <a:srgbClr val="D4916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7C16A7-5114-4343-8A99-AAAE42EF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16B5F-7C63-48EA-BE1D-C255F7DC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选择动作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CE6DF4-A503-4677-A7A5-9B620603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回答 / 追问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创建或修改计划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7BA938-F799-494E-8335-A2C84D09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32F5C1-A9F7-42DC-A6C1-B2EB2881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A10848-E3EC-4A3E-B113-F33363B0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生成结果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311F26-6D3C-4927-A770-3ECFC946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讲解、任务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资源与练习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1CEB97-B41F-44AA-8302-0633E9BD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611331-1A5D-47DB-A1CB-02CA4FD4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2DC261-983D-4225-BA08-888E7AE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质量审查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3D9763-D43A-4DF2-B9BD-2724FCF2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规则检查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模型复核与重写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322207-793A-4DB9-859E-4F2AA19A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438400"/>
            <a:ext cx="1600200" cy="21907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330B8E-402B-45EF-A607-3D3009A5B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8DD336-190F-4899-96CE-D3B3247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0861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持久写回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7AF9E9-97C5-44BE-B792-65A53D60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33800"/>
            <a:ext cx="133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记忆、决策</a:t>
            </a:r>
          </a:p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版本与评价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A67994-B6E1-49E6-A0F4-FF979F2C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39783"/>
                </a:solidFill>
              </a:defRPr>
            </a:pPr>
            <a:r>
              <a:rPr sz="1725" b="1">
                <a:solidFill>
                  <a:srgbClr val="739783"/>
                </a:solidFill>
              </a:rPr>
              <a:t>模型调用失败时，规则逻辑仍可完成基础路由、证据提取、计划动作和质量检查。</a:t>
            </a:r>
          </a:p>
        </p:txBody>
      </p:sp>
    </p:spTree>
    <p:extLst>
      <p:ext uri="{BB962C8B-B14F-4D97-AF65-F5344CB8AC3E}">
        <p14:creationId xmlns:p14="http://schemas.microsoft.com/office/powerpoint/2010/main" val="146942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61363-52EC-4C2F-8106-AE21C5AF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SIX-DIMENSION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E97CAF-D8E1-45CD-9A05-1669054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六维画像决定内容、节奏与行动方向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196A9-7DBB-4F0F-A022-35A92578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D42B3-3F2B-45BE-9384-1DE2550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42CB6-6F20-42C6-A6C8-92999AC8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画像维度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93A36-BFB8-488F-9D95-C2149C43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76400"/>
            <a:ext cx="3257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系统关注的信号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AF236-63E9-41D8-B9CB-87939753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实际影响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34E17-649B-47A0-9236-4A32D09A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D1C5D-8B00-45C1-8943-BD8C5E39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56FB0-7BEF-4AE1-93E2-5CCF54DC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知识基础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BEDD6-0DE8-4DA5-BDD7-C8850AC9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概念掌握、术语熟悉度、代码经验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558BB1-F65F-4DC4-9D51-65454559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讲解起点、术语密度、任务难度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30191-7AD3-41BE-9E3C-CC6B28F5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F2524-3393-4149-9E43-D2BE8B8E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认知风格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AEACA-C2E4-406E-88E0-BD07112C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visual / verbal / kinesthetic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7709B-8186-4974-AE31-4ED50AC6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图示、文字推导或动手实践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C6673E-7B48-4B1A-B93E-2F8C913B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587B0-8321-4A48-9862-B60372DE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CF688-40AF-46FB-A75E-A8CA86B8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薄弱点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F3A53C-5692-45F6-BDF9-F6E43E6F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814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错误类型、反复困惑、评价弱项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36D993-267E-4654-807C-30ED1F2A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814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针对性解释、复习与练习覆盖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B27A41-AC75-4125-9603-06BD3B41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8400E4-D205-4E70-8F8A-87C92476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481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学习节奏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16D4E7-D0CC-4E06-A849-EF43D9B1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可用时间、完成速度、任务负担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CFF9AF-2A00-4FD4-96E6-A3748398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481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每周任务量、挑战幅度与周期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65D9E-0999-47BF-81C9-F2AAD0B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6EA1B1-C5FD-4375-ACC0-0C5474A2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CF4035-9E21-4597-BA26-98D99FDF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兴趣领域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46D32A-C7D1-40AD-8439-AC3E4E96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关注主题、资源偏好、方向选择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5A173-6E85-422C-B416-FA26DBB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案例、平台与学习主题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B607B4-0F7B-4447-9503-C60770AB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864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989847-F1B5-4D8D-9AC3-7153F450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短期目标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44BCA5-4EA5-4FB9-AC4A-5BAD933D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325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考试、项目、转岗或阶段成果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2F8B87-311A-4408-B7F9-E411626E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计划终点与优先级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1B6F9-75B7-4110-BC08-8A2E4BD2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106CA2-6BFC-45EB-85FE-934F29F9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个性化发生在内容深度、表达方式、任务编排和资源选择四个层面。</a:t>
            </a:r>
          </a:p>
        </p:txBody>
      </p:sp>
    </p:spTree>
    <p:extLst>
      <p:ext uri="{BB962C8B-B14F-4D97-AF65-F5344CB8AC3E}">
        <p14:creationId xmlns:p14="http://schemas.microsoft.com/office/powerpoint/2010/main" val="1195031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5BBC4-51A6-4446-98D5-0974F904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PROFILE-TO-BEHAVIOR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FFCA6-D401-4AEC-B3D5-91275633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同一问题会因画像不同而得到不同答案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0B382-AEAF-4208-9E63-C5B8E765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18A0E-049D-40C7-AA91-C00F33E5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BDD35-5FB2-470D-AF21-1075FE36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776960"/>
                </a:solidFill>
              </a:defRPr>
            </a:pPr>
            <a:r>
              <a:rPr sz="1950" b="0">
                <a:solidFill>
                  <a:srgbClr val="776960"/>
                </a:solidFill>
              </a:rPr>
              <a:t>示例问题：请解释二叉树遍历，并给出下一步学习建议。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175BC-BA8F-4400-92DE-70E879469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32766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5B639-245F-4755-872A-4BC766B1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86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基础较弱 · 视觉型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6EC60-E11C-4DE4-91C0-18735A28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766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6D25E-7B79-463E-8C9E-E712D5E7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2705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先用树形图演示前序 / 中序 / 后序，再给 3 个节点的小例子；任务以手绘遍历路径为主。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FCAAA-39F3-4730-A675-0ABDEDE4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57450"/>
            <a:ext cx="32766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EEF3"/>
          </a:solidFill>
          <a:ln xmlns:a="http://schemas.openxmlformats.org/drawingml/2006/main" w="0">
            <a:solidFill>
              <a:srgbClr val="E7EEF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FFE4EC-505C-4AA8-92C5-DA830E93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基础较强 · 文字型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D3E39-966E-46E4-9E02-96E99C22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766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A20EB-3129-4084-8DF0-5A12FE31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2705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直接比较递归与迭代实现、复杂度和调用栈；任务增加代码实现与边界分析。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1BD82-8D90-4584-AE95-54828039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57450"/>
            <a:ext cx="32766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ECF41-BE68-4323-B95A-7AB71DB3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860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时间有限 · 项目目标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7B895-2E7B-4313-BADE-FCB344B8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1220E-4FFE-4797-8A53-9453DD13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27051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压缩理论篇幅，优先讲项目会用到的遍历方式；把任务拆成 30—40 分钟的小步。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7C9DA5-DB06-4AF5-B158-959732C8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5918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AFD8B-41A2-427B-91C7-A33DA29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058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画像不是展示信息，而是生成时的行为参数：决定先讲什么、讲多深、怎么讲，以及接下来做什么。</a:t>
            </a:r>
          </a:p>
        </p:txBody>
      </p:sp>
    </p:spTree>
    <p:extLst>
      <p:ext uri="{BB962C8B-B14F-4D97-AF65-F5344CB8AC3E}">
        <p14:creationId xmlns:p14="http://schemas.microsoft.com/office/powerpoint/2010/main" val="18846204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89B014-4076-458F-B976-9B9B95C5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EVIDENCE-DRIVEN PROFILE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D1F80-AEC3-4447-90D1-F2C81240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画像只在新证据足够明确时更新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805E35-42D1-4AE1-9022-364090F0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ED484-98C0-472B-9ED0-1B4D651D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C7221-512E-4972-89E3-6CFC0311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智能体只接受用户最新消息直接支持的新事实，不把模型自己的推测当作画像依据。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134B3-3900-4C95-915C-E15D4CEB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AD9F2-9028-424F-B542-8EB8808E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288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6CDF1D-D4C2-427C-93BE-5D99CD1F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00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用户原话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4EF37-15BA-434E-A23B-702D8D440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431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“我更喜欢看图理解，最近每天只能学习 40 分钟。”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50828-5885-4442-BD85-A14FF1E1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41195-BF6A-4C56-9461-82F29AF4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994937-3C59-4273-8048-1D354C85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750612-13F0-4C13-AC47-2603D8D3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结构化证据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9C8577-F990-4B42-A8A1-36B0814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813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cognitiveStyle = visual · confidence = 0.88 · LONG_TERM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E44D89-9F16-4A07-B1E5-7E9984ED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FB2628-92CC-47B6-BACA-933BBA6A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E0542-455C-459A-B630-AE606342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05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42EC1-A0D7-4DCC-8F94-1CC4DB26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767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临时状态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FB691D-CEC9-429D-8239-6ADB280B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195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timeAvailable = 40 分钟 · 仅进入 temporary_state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35634-DBF5-4B2A-A4CC-853AC598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339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0973A0-0D52-4686-A12F-1165C8DD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33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12772-B3D8-40B8-9DAA-3B5E4346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434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A71509-3853-42BB-B804-56164AEA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149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持久化门槛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428D5-F3D9-4B47-AD80-554C93BD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57750"/>
            <a:ext cx="784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置信度 ≥ 0.60 且属于六个合法画像维度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626CAB-301E-4622-85C5-7ED51D23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4CD12D-FB78-4FEA-AA58-13EA9814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8170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每条证据保留原文、来源消息、置信度、长期 / 短期作用域和更新动作。</a:t>
            </a:r>
          </a:p>
        </p:txBody>
      </p:sp>
    </p:spTree>
    <p:extLst>
      <p:ext uri="{BB962C8B-B14F-4D97-AF65-F5344CB8AC3E}">
        <p14:creationId xmlns:p14="http://schemas.microsoft.com/office/powerpoint/2010/main" val="17698820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C530B0-E089-4DBA-8C70-3A726A70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PROFILE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08048-C3D8-4E30-906D-98D4402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冲突与历史不会被简单覆盖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39D1FC-F5C7-4CBC-9747-60DA667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F9778A-8E09-4275-B9C1-F5834F00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4687E-B5EA-42DE-A664-F6604C5E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画像维护采用证据级记录，保留来源与冲突状态，便于解释“为什么系统这样判断”。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348F15-2BA2-4373-B03D-857C244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52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4658F-9D66-4331-9428-35035DA4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52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6C3357-CAA2-462F-97A7-C21D3BB4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5280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D4916F"/>
                </a:solidFill>
              </a:defRPr>
            </a:pPr>
            <a:r>
              <a:rPr sz="24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1A22D-9B1A-4792-A3A1-052BECF0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381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B18EFE-12E7-4289-81BB-9942F92C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8E7A8F-5DF6-40D8-95DF-C2C2078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新证据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9B541-EDC6-4990-870C-5C37C063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直接来自最新用户消息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BE3F1-3003-4466-AD9E-9D64ABB2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76500"/>
            <a:ext cx="2381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AFAA69-873A-4CD3-938A-9A4E4FA3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E3ABC-5BDD-4B77-A0EC-2B16225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查重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E1B86-F044-42A0-B2C5-115891FA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714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重复证据不再次写入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7DDF8E-7395-44B6-9958-37C5C44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76500"/>
            <a:ext cx="2381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D9A30-8D5E-4B7F-8E41-8466FCE9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1788AC-77BF-4869-8B11-8DE1D2FF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合并 / 替换 / 保留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D78455-2F7F-4DF1-B719-D00B0676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14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按字段性质和 action 处理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9CB3D-BB9A-4748-BFE8-0022A4A7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76500"/>
            <a:ext cx="238125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E7F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949703-5D75-4347-9EB3-1C3B83F67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479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35721-EFA9-4AC8-9EF6-A9208CDA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版本留痕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EA4373-3087-4856-8929-515F33E8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924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旧值、来源和冲突状态可追溯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922880-2867-497C-8B3E-43F14616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9677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39783"/>
                </a:solidFill>
              </a:defRPr>
            </a:pPr>
            <a:r>
              <a:rPr sz="1875" b="1">
                <a:solidFill>
                  <a:srgbClr val="739783"/>
                </a:solidFill>
              </a:rPr>
              <a:t>价值：画像变化可以回放，错误判断可以纠正，计划修订也能解释其依据。</a:t>
            </a:r>
          </a:p>
        </p:txBody>
      </p:sp>
    </p:spTree>
    <p:extLst>
      <p:ext uri="{BB962C8B-B14F-4D97-AF65-F5344CB8AC3E}">
        <p14:creationId xmlns:p14="http://schemas.microsoft.com/office/powerpoint/2010/main" val="169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C2AB39-4945-457C-A71B-FF3BF986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THREE-LAYER 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2073F-C681-4BF8-A5C5-DE184E83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三层记忆兼顾连续性与信息克制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01A1E-9572-43C9-88C3-FDE9DA2A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F61F2-8C01-4E7D-982F-85E7221F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C1D5BE-EFED-4933-8C26-0A278EC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972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9C2EF1-2BD1-4549-8112-578B2F42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914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A829F-D61D-408A-ADBC-DBC07BD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即时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A07C5-1A32-44F6-BB0C-4512D7E4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19431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最近原始消息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0C2CC-4127-40A6-B340-A9D19005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85950"/>
            <a:ext cx="653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保留当前对话细节，用于回答指代、追问与上下文衔接。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36366B-C6C3-4180-A59C-9F262BA4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00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4916F"/>
                </a:solidFill>
              </a:defRPr>
            </a:pPr>
            <a:r>
              <a:rPr sz="1875" b="1">
                <a:solidFill>
                  <a:srgbClr val="D4916F"/>
                </a:solidFill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5DCC8-6FAD-47A6-990A-CB6A80B6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10972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7EEF3"/>
          </a:solidFill>
          <a:ln xmlns:a="http://schemas.openxmlformats.org/drawingml/2006/main" w="0">
            <a:solidFill>
              <a:srgbClr val="E7EEF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E2391-2D73-4765-A731-1A29C33AD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914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2A9B1D-9C60-47B7-AD94-DF39CBDD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6F8FA7"/>
                </a:solidFill>
              </a:defRPr>
            </a:pPr>
            <a:r>
              <a:rPr sz="1425" b="1">
                <a:solidFill>
                  <a:srgbClr val="6F8FA7"/>
                </a:solidFill>
              </a:rPr>
              <a:t>阶段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06C43C-46FF-47CF-A2BD-CBD1D719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385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滚动摘要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80587A-1F09-4879-B700-377D3D4CA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81350"/>
            <a:ext cx="653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只保留目标、约束、结论、进展和未解决问题；不记录寒暄，最多 700 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D4F60-5A43-4806-9992-4A34BCE4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95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D4916F"/>
                </a:solidFill>
              </a:defRPr>
            </a:pPr>
            <a:r>
              <a:rPr sz="1875" b="1">
                <a:solidFill>
                  <a:srgbClr val="D4916F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ADE85-7E19-4880-8165-7C137C22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3FF778-EFF1-45D8-AC43-DD03FDB8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9144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5B4CD-B81E-4FC4-8AF8-D381BB18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739783"/>
                </a:solidFill>
              </a:defRPr>
            </a:pPr>
            <a:r>
              <a:rPr sz="1425" b="1">
                <a:solidFill>
                  <a:srgbClr val="739783"/>
                </a:solidFill>
              </a:rPr>
              <a:t>长期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E27279-9B3D-44A4-B715-8B86ADA4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33900"/>
            <a:ext cx="2324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长期画像证据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63A02A-8537-4A73-B109-AC6999BF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476750"/>
            <a:ext cx="65341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按六维保存证据原文、来源、置信度与作用域。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973464-EB33-4061-8CFB-BC8D47C9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293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记忆越长期，写入条件越严格；系统不会把所有聊天内容永久保存为画像事实。</a:t>
            </a:r>
          </a:p>
        </p:txBody>
      </p:sp>
    </p:spTree>
    <p:extLst>
      <p:ext uri="{BB962C8B-B14F-4D97-AF65-F5344CB8AC3E}">
        <p14:creationId xmlns:p14="http://schemas.microsoft.com/office/powerpoint/2010/main" val="10106310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DF17D6-A596-48A4-8220-6BC37CBE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TEMPORARY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40D6E-4E6C-4911-8276-DB94AAAE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临时状态有明确边界和失效时间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7EAD3-BD76-4481-91DB-FE555670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B6FC4-6793-4033-95CD-C8CDEBDF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09778F-56C5-4897-99AA-F080E71E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精力、情绪、可用时间和当前困惑用于调整当下回答，但不等于稳定能力。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B8D22-485A-4BD7-9A2C-75A3A271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905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708E9-CC68-4DD3-8AE5-D9289976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energy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CEE1D-5EE2-4F37-9E34-9B931DD3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00300"/>
            <a:ext cx="1905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960E5-93B8-4421-8307-9DBBA794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emotion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65C2B-F98A-4618-B3D6-E1DCDD8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00300"/>
            <a:ext cx="1905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29DEA-70A8-4136-922B-82C7D29D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timeAvailable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5B6CC2-EACA-42A0-AFC3-B1737AF8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00300"/>
            <a:ext cx="1905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B9626-7590-425B-9ECE-D74B5124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currentConfusion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30DFE-1678-4FC6-B3DF-02E686C9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00300"/>
            <a:ext cx="1905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5BF97-3386-4BF3-B8CF-6333C9DD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19350"/>
            <a:ext cx="175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currentGoal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A4043-7528-49D4-B3E1-5879DE41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9867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D602E-5638-4C29-B737-3A1DB4D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38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916F"/>
          </a:solidFill>
          <a:ln xmlns:a="http://schemas.openxmlformats.org/drawingml/2006/main" w="0">
            <a:solidFill>
              <a:srgbClr val="D491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D828C9-C99C-460D-98EB-6CB4D5F5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238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F8FA7"/>
          </a:solidFill>
          <a:ln xmlns:a="http://schemas.openxmlformats.org/drawingml/2006/main" w="0">
            <a:solidFill>
              <a:srgbClr val="6F8FA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C7A30A-2AD0-457B-8867-9005E717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2385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4358F-CA42-4D67-AE1A-566E09BA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当前轮次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747DA-FA01-44BB-AA85-5E4361C8C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用于调整回复语气、任务负担和建议节奏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159A3-496B-4435-8F0D-9C431CC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790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6F8FA7"/>
                </a:solidFill>
              </a:defRPr>
            </a:pPr>
            <a:r>
              <a:rPr sz="1800" b="1">
                <a:solidFill>
                  <a:srgbClr val="6F8FA7"/>
                </a:solidFill>
              </a:rPr>
              <a:t>12 小时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E1C582-47AE-400B-8231-83E153BB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2100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清理精力、情绪、时间、困惑与当前目标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440FE8-5D93-4109-A18A-2C2713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7909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39783"/>
                </a:solidFill>
              </a:defRPr>
            </a:pPr>
            <a:r>
              <a:rPr sz="1800" b="1">
                <a:solidFill>
                  <a:srgbClr val="739783"/>
                </a:solidFill>
              </a:rPr>
              <a:t>7 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4BE50C-EA78-4AC1-A225-6C64D9A6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10050"/>
            <a:ext cx="2914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清理仍未完成的待处理计划动作和澄清问题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8D286-0DBB-47A3-9B4C-8E2BC687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590AE2-A315-4DFA-8E89-39D0B71C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81650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“今天很累”会让本轮任务更轻，但不会永久降低 knowledgeBase 或 learningPace。</a:t>
            </a:r>
          </a:p>
        </p:txBody>
      </p:sp>
    </p:spTree>
    <p:extLst>
      <p:ext uri="{BB962C8B-B14F-4D97-AF65-F5344CB8AC3E}">
        <p14:creationId xmlns:p14="http://schemas.microsoft.com/office/powerpoint/2010/main" val="12863057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0CB8B9-3CCF-43E6-990A-1FEB24F7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INTENT TAXONOMY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46E4E4-204E-4A52-BDD1-DC07647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八类意图覆盖主要学习需求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56E04-A851-4560-B8CE-92CFFF8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7FB7-2F6D-48FA-A7FB-C0877B1F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CA09E-1E07-4D8D-87BF-A74A261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意图先决定业务链路，再决定回答内容；非计划意图不会误触发计划动作。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77AFC-38A1-4BFE-AE6B-67E5C343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STUDY_QA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8A3F1B-6CF4-4D73-827F-2C4F408D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7D999A-5D4A-48D0-904E-5B63E978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学习问答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B8519-FF59-4974-8724-55F5F07C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PROFILE_DISCOVERY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162BE-3198-4A4A-A504-1E69FE1E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62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C1B59-EBB5-450F-84ED-9428CCF5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81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画像发现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DC872-F8EB-48A8-8DF5-F42BEFF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PLAN_CREATE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01D26-E4DC-4E19-8C5E-42A579C3C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62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E9E41D-86CC-46F3-96CC-BEC64F6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创建计划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3B45F1-A010-4E29-B90B-F9CB600C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PLAN_REVISE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3869AC-BC0E-4155-A164-915A47EB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62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2E2117-E694-4DF8-BE26-9F2E5C89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修订计划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8C257-6166-483C-AC07-ADD0EA9D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SUBMISSION_REVIEW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F6FABF-6BEF-40E1-AD69-F9FF9024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55DC4-05F1-4C19-A8FD-4DDCDCE9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成果评价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E6843C-AA89-4BBB-9C5D-7E8AD4E9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543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PROGRESS_REVIEW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D3207-5ADC-4B95-8C74-31FE2A12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905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46700D-9F1B-4CDB-8780-DB4E67C0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24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进度复盘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B0ECA7-E31B-4FF9-8F64-C9B78F63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43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RESOURCE_QUERY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9D55DA-E413-4441-A656-8C003647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6ACCA8-F278-424F-9E29-A3737832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24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资源查询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BC4ABC-4EDA-42F6-BFC7-B8EC9937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43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CASUAL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26ED7-81A2-4116-885B-20071893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05250"/>
            <a:ext cx="238125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F4F6A6-FFE7-49A9-A226-2AA3A0D4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243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轻松对话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BDFEDB-8BCB-4C12-9F87-C979C7C8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36324-849D-422B-BA19-B3201DD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B322D"/>
                </a:solidFill>
              </a:defRPr>
            </a:pPr>
            <a:r>
              <a:rPr sz="2025" b="1">
                <a:solidFill>
                  <a:srgbClr val="3B322D"/>
                </a:solidFill>
              </a:rPr>
              <a:t>对应对话状态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DE814-747C-46C9-9856-2D0E35FB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067300"/>
            <a:ext cx="8705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6960"/>
                </a:solidFill>
              </a:defRPr>
            </a:pPr>
            <a:r>
              <a:rPr sz="1350" b="1">
                <a:solidFill>
                  <a:srgbClr val="776960"/>
                </a:solidFill>
              </a:rPr>
              <a:t>ANSWERING · COLLECTING_PROFILE · CREATING_PLAN · REVISING_PLAN · REVIEWING_SUBMISSION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95B7F0-BABA-45C3-BDEC-EF53C81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39783"/>
                </a:solidFill>
              </a:defRPr>
            </a:pPr>
            <a:r>
              <a:rPr sz="1650" b="1">
                <a:solidFill>
                  <a:srgbClr val="739783"/>
                </a:solidFill>
              </a:rPr>
              <a:t>每轮意图、状态和质量分数都会写入 agent_decision_record。</a:t>
            </a:r>
          </a:p>
        </p:txBody>
      </p:sp>
    </p:spTree>
    <p:extLst>
      <p:ext uri="{BB962C8B-B14F-4D97-AF65-F5344CB8AC3E}">
        <p14:creationId xmlns:p14="http://schemas.microsoft.com/office/powerpoint/2010/main" val="175298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4D8A88-F7AE-4D25-8733-DE87408D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PROACTIVE CLARIFICATION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5DFD9-F2DD-4D76-B8DE-732709B5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缺少关键信息时，只追问一次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B4B574-E447-419F-B386-2858BDDE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0128AD-58B9-475F-9AB7-1F39E563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4144F2-76FE-4A92-9ED9-9CBC017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只有当缺失信息会显著改变结果时，智能体才提出一个高信息量问题。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74CC0-BC03-4221-A284-F9EE2EE0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D5789-15B5-48B5-BEA6-A1614025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241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创建计划但没有方向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8C775-6AE8-4DB8-84FF-867CCD9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860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你最希望计划围绕哪个学习方向或具体目标展开？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C4D1C6-86AA-40D1-A660-4F94F6E8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277CA-B310-48E7-B544-F170BEFA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242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ACEAB-D86C-4448-9FDE-61907C6F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051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修改计划但没有周次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3AEA1-DCFA-4501-87DB-C9CA969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670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你希望调整第几周，以及主要想改难度、内容还是任务量？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A3D8D1-9FB6-420D-84F9-E1BC6B60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ABFBBB-E4C7-4E82-B250-655E1386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221FBA-D27A-4DB7-9AF7-93F4EEEE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调整难度但没有方向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4E77A-04CB-492E-93F5-E7CA80CF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你希望整体难度提高还是降低，是否只调整某一周？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3A1682-7A43-475F-B15B-D8058E6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1172A6-2713-4650-A45C-6E570F4B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863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7858"/>
                </a:solidFill>
              </a:defRPr>
            </a:pPr>
            <a:r>
              <a:rPr sz="1500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A4C983-94EB-4418-8B6A-8E64DE78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改变方向但没有目标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502E4-36F9-491D-ACF1-88538357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29150"/>
            <a:ext cx="681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你希望把计划调整到哪个新的学习方向？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0D087-CBCD-4046-96A3-DDCC482A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562D0-849B-4D22-BDF8-BED7A651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9728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DD668-E9B8-44A1-8E1A-5D444CFD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追问时 plan_action 暂置为 none，原动作保存到 requested_plan_action；用户补充后自动恢复并合并前后要求。</a:t>
            </a:r>
          </a:p>
        </p:txBody>
      </p:sp>
    </p:spTree>
    <p:extLst>
      <p:ext uri="{BB962C8B-B14F-4D97-AF65-F5344CB8AC3E}">
        <p14:creationId xmlns:p14="http://schemas.microsoft.com/office/powerpoint/2010/main" val="1681719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C3668F-BA62-44FF-861A-7F19C9E2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PERSONALIZED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E4B9B-5246-4D5F-96FB-6FDD8CD3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回复由五类上下文共同约束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1058F-A01E-4471-88BD-6231BBA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546696-4177-406D-8D5B-9D6EC46E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FFB30-545D-42F0-B3C0-B49728EF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322D"/>
                </a:solidFill>
              </a:defRPr>
            </a:pPr>
            <a:r>
              <a:rPr sz="2250" b="1">
                <a:solidFill>
                  <a:srgbClr val="3B322D"/>
                </a:solidFill>
              </a:rPr>
              <a:t>生成输入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1D520-B9F8-4360-9127-197E9698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画像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18DF1-ADDB-4277-88EF-D12D1B38C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479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六维结构决定解释起点、案例和节奏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9EFC7-0410-425B-A35C-E5653648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记忆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9BEA8-A182-4A5C-B927-F7DF057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52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摘要、临时状态和未解决问题保持连续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41CF2B-30A8-42B5-B338-29B5FF77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计划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C4C74-42F6-44F8-B07B-62433D5F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6576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当前周任务与计划版本提供行动语境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36AA8-46C2-4328-B6A9-3FDF64B6A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960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知识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82F7B-EDD2-495A-83CE-8FB81EAB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624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课程资料和检索结果提供事实依据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69620-0FCF-455E-B76A-A1109C51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813F01-D434-4990-8269-14DFF29B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067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意图、对话状态与计划动作约束输出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459621-931C-49C5-AFC3-4A4F1320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4805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4916F"/>
                </a:solidFill>
              </a:defRPr>
            </a:pPr>
            <a:r>
              <a:rPr sz="28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35FFC-E61A-447B-B711-4F175D9F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4953000" cy="33147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44454-1151-4499-88E2-1F0D16BC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430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B322D"/>
                </a:solidFill>
              </a:defRPr>
            </a:pPr>
            <a:r>
              <a:rPr sz="2400" b="1">
                <a:solidFill>
                  <a:srgbClr val="3B322D"/>
                </a:solidFill>
              </a:rPr>
              <a:t>个性化回答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9C12BD-65C1-4352-9D36-86F8EC3E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858"/>
                </a:solidFill>
              </a:defRPr>
            </a:pPr>
            <a:r>
              <a:rPr sz="1800" b="1">
                <a:solidFill>
                  <a:srgbClr val="B87858"/>
                </a:solidFill>
              </a:rPr>
              <a:t>Markdown 渲染 · SSE 逐字输出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75F144-3DBB-48EF-BAD6-359A7F49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242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3E470A-D1B2-47C8-BF24-0CBA276C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14750"/>
            <a:ext cx="37338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匹配用户认知风格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控制解释深度与术语密度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关联当前计划与知识资料</a:t>
            </a:r>
          </a:p>
          <a:p xmlns:a="http://schemas.openxmlformats.org/drawingml/2006/main">
            <a:pPr algn="ctr">
              <a:defRPr sz="1725" b="0">
                <a:solidFill>
                  <a:srgbClr val="776960"/>
                </a:solidFill>
              </a:defRPr>
            </a:pPr>
            <a:r>
              <a:rPr sz="1725" b="0">
                <a:solidFill>
                  <a:srgbClr val="776960"/>
                </a:solidFill>
              </a:rPr>
              <a:t>给出明确、可执行的下一步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84AA6F-0435-4756-AAB7-277D2C2B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3405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39783"/>
                </a:solidFill>
              </a:defRPr>
            </a:pPr>
            <a:r>
              <a:rPr sz="1650" b="1">
                <a:solidFill>
                  <a:srgbClr val="739783"/>
                </a:solidFill>
              </a:rPr>
              <a:t>相同问题在不同学习者、不同阶段会得到不同的讲解结构。</a:t>
            </a:r>
          </a:p>
        </p:txBody>
      </p:sp>
    </p:spTree>
    <p:extLst>
      <p:ext uri="{BB962C8B-B14F-4D97-AF65-F5344CB8AC3E}">
        <p14:creationId xmlns:p14="http://schemas.microsoft.com/office/powerpoint/2010/main" val="10543243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5FDF5B-8442-4D02-985F-80DCA34E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ANSWER QUALITY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F7C0A-18EA-456C-9385-C28B4D80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质量审查把“生成了”变成“可交付”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7E089-4B23-4965-9D17-D3A2C7DC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6BEB5-0DCB-4863-99E0-EB78387D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AC655-F2C8-47E7-82DE-3DB77AE4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确定性规则先快速评分，再由审核智能体检查相关性、个性化、事实性和可执行性。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06B21E-07A0-4A2E-B3FB-91AA6F43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确定性问题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A6780-516E-4300-801D-25B923C7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343150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87858"/>
                </a:solidFill>
              </a:defRPr>
            </a:pPr>
            <a:r>
              <a:rPr sz="1800" b="1">
                <a:solidFill>
                  <a:srgbClr val="B87858"/>
                </a:solidFill>
              </a:rPr>
              <a:t>扣分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C86B-32A0-4D1A-A4E9-444E9E6A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4315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意义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8BAA2-5E51-46DA-AF25-AD12C659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9B65D2-54C4-4EDF-9BB5-B81E2356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6025C-EB10-4A0C-8DF6-EA4EB4A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空回复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B10AD-3021-41B8-99FB-2691EF81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956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-100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B0C74-B073-443A-A539-58F48274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直接判定不可用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E9C3F-ADBB-4ED5-B449-9DAED6DB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模板式重复开场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F3D63-3B75-4C73-9EB9-C746C0EC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-35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51E3C0-51FE-45C9-9596-E915A1E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480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避免每轮都像同一份答复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5AC6AB-39D5-45F2-965F-27421DD0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978F1-DB0E-4855-BD39-E2ACE6FA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画像字段倾倒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1CC0A5-C48F-4787-AA53-0AE21560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-20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66DF06-A812-4DDD-B5EC-349A4AB1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画像用于生成，不应原样罗列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528B99-F9B6-47C5-84DD-F0D7E590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与近 3 次回复相似度 ≥ 0.82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60E512-7C19-49BB-8EE5-63D6A72B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529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-30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E3D88C-5EDB-4A42-B49C-F52B2823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52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降低机械复述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8DED9-1630-49CC-9A0A-081D3BA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F43FC4-25E3-4FAA-B18C-4927AF1C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回复超过 5000 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54ECBA-3D66-4B6D-A57C-82275E6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1054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87858"/>
                </a:solidFill>
              </a:defRPr>
            </a:pPr>
            <a:r>
              <a:rPr sz="1650" b="1">
                <a:solidFill>
                  <a:srgbClr val="B87858"/>
                </a:solidFill>
              </a:rPr>
              <a:t>-10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2FBB21-7234-4A21-8E21-0D8A0AD9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054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控制过度展开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73C5BA-B0F2-4D66-B2D7-FC55B955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7AA071-7E81-4D53-AC23-9C6CBA5B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规则分数低于 80 时触发修订；审核结论、质量分和重写结果一并持久化。</a:t>
            </a:r>
          </a:p>
        </p:txBody>
      </p:sp>
    </p:spTree>
    <p:extLst>
      <p:ext uri="{BB962C8B-B14F-4D97-AF65-F5344CB8AC3E}">
        <p14:creationId xmlns:p14="http://schemas.microsoft.com/office/powerpoint/2010/main" val="934673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C61030-CBD3-490D-B55F-1D11D2B7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FOUR-WEEK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BAC26-884D-4A4C-B7DD-BE056B92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四周计划把目标拆成可执行任务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3E169-CFC5-4F1E-841C-8B6560F7A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A3195-7D4C-4282-A0AA-E55E1868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AB889-5CF9-4098-96B9-13C560C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7181850" cy="461010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4c9bda1434328"/>
          <a:stretch xmlns:a="http://schemas.openxmlformats.org/drawingml/2006/main"/>
        </p:blipFill>
        <p:spPr>
          <a:xfrm xmlns:a="http://schemas.openxmlformats.org/drawingml/2006/main">
            <a:off x="609600" y="1996083"/>
            <a:ext cx="6991350" cy="3932634"/>
          </a:xfrm>
          <a:prstGeom xmlns:a="http://schemas.openxmlformats.org/drawingml/2006/main" prst="roundRect">
            <a:avLst>
              <a:gd name="adj" fmla="val 25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01306-195F-4CB8-89D9-330DA14E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90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计划结构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FB004F-67E8-45DB-8614-6F59CAD7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BCBDE-BA7E-4FAB-A3FF-D12C8614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3067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每周包含 weekNumber、topic 和具体 tasks。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C6418-366E-42EE-921B-F925961C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09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28288-D0C8-4A4C-834F-1F17E4A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90900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每周匹配 2 个资源，保留标题、平台、类型和链接。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ECB2E-88AB-4F0D-8754-C64076F1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577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4F3A6-A1F8-40F9-A3A7-B308FD65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画像决定任务难度、节奏、案例方向和资源偏好。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83654-DFEF-4CA3-A7ED-1CB1F20D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483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11780-9065-484B-9F9F-D8C822B2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429250"/>
            <a:ext cx="3067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用户可以展开、编辑、重新生成并反馈资源是否适合。</a:t>
            </a:r>
          </a:p>
        </p:txBody>
      </p:sp>
    </p:spTree>
    <p:extLst>
      <p:ext uri="{BB962C8B-B14F-4D97-AF65-F5344CB8AC3E}">
        <p14:creationId xmlns:p14="http://schemas.microsoft.com/office/powerpoint/2010/main" val="11813522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A48C82-A175-4397-A14F-8D029430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PLAN REVISION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CB8FA-69D2-4156-A960-606DA5D63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计划修改支持局部调整和版本回溯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72923-04D4-4CD2-98DB-88C68252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00C0F-BA40-453F-A7AC-5F3F5CC4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483D-DAA8-4A7D-B3D7-94CF424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系统先识别修订动作，再决定完整替换还是只合并指定周。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D3F74-B840-4E6E-891E-3D05736A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725614-B6A8-4DDF-851B-D7720F56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完整重做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CCE6C2-43B8-4585-9FD1-66AC1710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EDDE1-EDE5-45F4-84E9-FB1AADA8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修改指定周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42E8A2-6947-41B4-96D7-338117375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6220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4ACD3-4872-460E-A5A2-40DBF6C1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调整难度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4F849-DDE0-4B4F-B047-DA947D1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EFA86-E885-4E94-9AA4-BA276821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调整节奏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70284-8739-40C8-955F-A2054942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9085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3E2B9-EB38-4BEC-A5ED-7AB14EFF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09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改变方向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F9C34-8BBC-4D95-B39A-11BFCA4A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90850"/>
            <a:ext cx="3276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94082-EC73-4DF1-98E8-3605B6F3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调整资源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7C964-AB75-4CE6-9844-90E1B8117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19B00C-7568-4FDE-8773-B707DADF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局部合并规则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192B5-3FDE-4BEF-A3AF-527E47A4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38600"/>
            <a:ext cx="802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modify_week / adjust_resources 指定周时，只替换 changed_weeks；未涉及周继续沿用旧版本。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B4E5E-FE61-435F-AA1F-A55EE891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2445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版本 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6B1D0F-3071-4371-BFE5-2731DD62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244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4916F"/>
                </a:solidFill>
              </a:defRPr>
            </a:pPr>
            <a:r>
              <a:rPr sz="21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FE732-FFDE-464A-878F-11F735D5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244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版本 4 · 修改第 2 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D03F0-355A-4D2F-967D-7825B77B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1244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4916F"/>
                </a:solidFill>
              </a:defRPr>
            </a:pPr>
            <a:r>
              <a:rPr sz="21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FD35EA-4261-478D-82A8-D86C0A7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1244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版本 5 · 调整资源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4B91C6-2672-47A0-9BB6-B4F2BFB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244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4916F"/>
                </a:solidFill>
              </a:defRPr>
            </a:pPr>
            <a:r>
              <a:rPr sz="210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AFAB4B-CE3F-457B-ADB5-2657CD1C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1244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39783"/>
                </a:solidFill>
              </a:defRPr>
            </a:pPr>
            <a:r>
              <a:rPr sz="1725" b="1">
                <a:solidFill>
                  <a:srgbClr val="739783"/>
                </a:solidFill>
              </a:rPr>
              <a:t>可回溯父版本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99D657-7E65-45E3-8404-DF24B03E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829300"/>
            <a:ext cx="982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B322D"/>
                </a:solidFill>
              </a:defRPr>
            </a:pPr>
            <a:r>
              <a:rPr sz="1650" b="1">
                <a:solidFill>
                  <a:srgbClr val="3B322D"/>
                </a:solidFill>
              </a:rPr>
              <a:t>learning_plan 追加保存版本号、修订类型、修订原因和父版本，不覆盖旧记录。</a:t>
            </a:r>
          </a:p>
        </p:txBody>
      </p:sp>
    </p:spTree>
    <p:extLst>
      <p:ext uri="{BB962C8B-B14F-4D97-AF65-F5344CB8AC3E}">
        <p14:creationId xmlns:p14="http://schemas.microsoft.com/office/powerpoint/2010/main" val="18207372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8F972F-BF96-48F8-8E4C-921F9F6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RESOURCE RECOMMENDATION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BDAB9-4398-4F99-8BAC-EA1B95A8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资源推荐先验证，再排序与反馈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4E7A6-FD64-4E4D-8689-DE122197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D1FD9-AD92-497B-829C-BEE9CB432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DE2C3-0150-44D7-923A-FF20E8B7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资源智能体不只生成链接，而是验证候选资源是否真实、可打开且与主题相关。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7DE1F-84FC-41CA-B03E-7E2342F2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4916F"/>
                </a:solidFill>
              </a:defRPr>
            </a:pPr>
            <a:r>
              <a:rPr sz="22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15279-83B3-428E-BA54-67376B3B0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4916F"/>
                </a:solidFill>
              </a:defRPr>
            </a:pPr>
            <a:r>
              <a:rPr sz="22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C7E9A-FF5C-4C7B-808F-7A0C3927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4916F"/>
                </a:solidFill>
              </a:defRPr>
            </a:pPr>
            <a:r>
              <a:rPr sz="22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4B970C-329B-43E6-B543-BAEAC41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5280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4916F"/>
                </a:solidFill>
              </a:defRPr>
            </a:pPr>
            <a:r>
              <a:rPr sz="2250" b="1">
                <a:solidFill>
                  <a:srgbClr val="D491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37ADCA-C519-4BB4-922D-D95458F7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1619250" cy="2095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2AD4EB-5A7D-4C03-A6A9-14DCEABF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070D1-CDFF-4CB6-84CD-E39F093B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检索候选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43667-8884-4F17-8738-3D625C17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B站 API 与官方资源目录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B2E1E-F311-414B-93DE-E810A8B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38400"/>
            <a:ext cx="1619250" cy="2095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CE0D7-A5A7-40A0-BF81-9D6E32DC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647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FA5D5-9820-45D6-AA08-B70E5B27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1051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验证详情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C0DFEB-736A-405B-B8C5-A72C79AE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338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BV、简介、分区与分P内容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22B26D-31D4-4C5E-B41E-0EC6EB42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8400"/>
            <a:ext cx="1619250" cy="2095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2705A3-0DC8-4C97-AB82-1AB5FAF52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0EA5E-87A0-4C7B-B609-1F2DD2A0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051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质量排序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2DF44-861D-4493-9F76-36F81CC3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338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相关性、互动质量与主题匹配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471D1D-2556-416B-8889-1D63ED33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438400"/>
            <a:ext cx="1619250" cy="2095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0288F1-6F5D-4465-A7E7-32EE971F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47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152214-2926-43B6-9CFF-F3DC9ECD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051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反馈重排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33973-37F5-4AC0-AB05-F248141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有帮助 / 不适合与收藏行为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518ABA-1BD9-4D04-84C8-C1F92E76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38400"/>
            <a:ext cx="1619250" cy="20955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9525">
            <a:solidFill>
              <a:srgbClr val="E7F0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6BB900-E2EF-44E4-BFBB-7F96EDE6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479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62E570-17D1-41F1-A5AA-22F279EB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105150"/>
            <a:ext cx="1352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B322D"/>
                </a:solidFill>
              </a:defRPr>
            </a:pPr>
            <a:r>
              <a:rPr sz="1950" b="1">
                <a:solidFill>
                  <a:srgbClr val="3B322D"/>
                </a:solidFill>
              </a:rPr>
              <a:t>降级兜底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096AB4-DB3A-4E21-BB5C-B475F472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776960"/>
                </a:solidFill>
              </a:defRPr>
            </a:pPr>
            <a:r>
              <a:rPr sz="1500" b="0">
                <a:solidFill>
                  <a:srgbClr val="776960"/>
                </a:solidFill>
              </a:rPr>
              <a:t>缓存、平台去重与官方课程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0DC483-AD94-4C80-851F-114977F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ACE468-EBB8-47E9-804F-99796B38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10401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每周最终返回 2 个具体资源；收藏只代表偏好，不直接提高掌握度。</a:t>
            </a:r>
          </a:p>
        </p:txBody>
      </p:sp>
    </p:spTree>
    <p:extLst>
      <p:ext uri="{BB962C8B-B14F-4D97-AF65-F5344CB8AC3E}">
        <p14:creationId xmlns:p14="http://schemas.microsoft.com/office/powerpoint/2010/main" val="100588931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A65AE-33C8-4411-831C-A0FAA169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PRACTICE SPACE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BAC6F-F77A-494D-99BE-CE212281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练习空间把每个计划任务变成题目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F5524-6FD2-48FC-83A2-86490151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D6404-844C-4D52-B0D1-E983322A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FB4FE-B10E-4328-ADF1-6403B11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8020050" cy="4629150"/>
          </a:xfrm>
          <a:prstGeom xmlns:a="http://schemas.openxmlformats.org/drawingml/2006/main" prst="roundRect">
            <a:avLst>
              <a:gd name="adj" fmla="val 3292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aa2e7452484fba"/>
          <a:stretch xmlns:a="http://schemas.openxmlformats.org/drawingml/2006/main"/>
        </p:blipFill>
        <p:spPr>
          <a:xfrm xmlns:a="http://schemas.openxmlformats.org/drawingml/2006/main">
            <a:off x="609600" y="1769864"/>
            <a:ext cx="7829550" cy="4404122"/>
          </a:xfrm>
          <a:prstGeom xmlns:a="http://schemas.openxmlformats.org/drawingml/2006/main" prst="roundRect">
            <a:avLst>
              <a:gd name="adj" fmla="val 257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19011-313A-4FE6-8AE4-BC762253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可配置练习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A2703-6A16-4167-9538-8D779F7A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193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F87D1-8B19-4E77-838E-C0CFDC76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400300"/>
            <a:ext cx="238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选择周计划和具体小任务，题目与计划精确关联。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DFFBF-6DE7-4B5B-97CA-DDD25766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480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EA23B5-BBB2-4A70-90C7-FA35B315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支持单选、多选、判断、简答等题型。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81368-C6D4-4664-AF61-E0C4F49F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815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91585D-4A52-45D9-B6F8-98D46F2D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362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难度、数量可调，答案草稿自动保存。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AF51E-344C-4D46-A441-B29CAE48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314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DD82E1-FD33-4A73-B74F-2B0CB6C5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9590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B322D"/>
                </a:solidFill>
              </a:defRPr>
            </a:pPr>
            <a:r>
              <a:rPr sz="1650" b="0">
                <a:solidFill>
                  <a:srgbClr val="3B322D"/>
                </a:solidFill>
              </a:rPr>
              <a:t>提交后记录正确率、质量分和来源知识块。</a:t>
            </a:r>
          </a:p>
        </p:txBody>
      </p:sp>
    </p:spTree>
    <p:extLst>
      <p:ext uri="{BB962C8B-B14F-4D97-AF65-F5344CB8AC3E}">
        <p14:creationId xmlns:p14="http://schemas.microsoft.com/office/powerpoint/2010/main" val="1499281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9BE65-56A3-493F-AA99-856A1A4B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QUESTION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E2D1C2-9213-493F-B056-2D610F134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出题经过蓝图、生成、审核和去重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20016-6F75-4AED-A80C-DEE5550F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AC397-D845-44BC-A612-5DBEC92A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A7166-E057-4C93-9610-59D14272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776960"/>
                </a:solidFill>
              </a:defRPr>
            </a:pPr>
            <a:r>
              <a:rPr sz="1875" b="0">
                <a:solidFill>
                  <a:srgbClr val="776960"/>
                </a:solidFill>
              </a:rPr>
              <a:t>多阶段流水线降低答案歧义、难度偏差、来源失真和重复题。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650A63-A740-4360-BC1B-E6F5878F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03B74-6A0B-46D7-9DEA-677C9A12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7A09E-9A6E-4FF3-BD34-C857FB1E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860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知识检索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D04C3-91B1-44BD-808B-F402622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479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按用户可访问范围返回允许引用的 chunk_id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3947F-D294-4146-9993-0EE952A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4D7B40-D81F-4278-A47D-342C267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507BFF-3F1C-4BBF-99E9-54F4DA9D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8F53D-63A4-4AE5-A700-A6716785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出题蓝图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9633E9-C5EC-4883-B458-F12EAA9A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718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知识点、目标、认知层级、误区、题型与难度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694EDF-08D4-41FC-A5A2-060E54B0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C262AF-200B-459E-81D8-1CB9C6BE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2E9A9-805A-4BA8-91A0-87534380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9F487C-0A7C-4B26-94A2-0F283D4A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338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候选生成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06E7A-B6D9-4956-9884-4597A4643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结合画像与课程模板，生成略多于目标数量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7AE780-BB02-4565-B102-C72084AF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B00FB1-3436-4E63-82AB-B0F12CEDD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B87858"/>
          </a:solidFill>
          <a:ln xmlns:a="http://schemas.openxmlformats.org/drawingml/2006/main" w="0">
            <a:solidFill>
              <a:srgbClr val="B878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E7AD61-6D89-42EB-B1BE-46C02F7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6F06F4-B66B-4A12-BBCC-6112B5B9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577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独立审核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000F7-9019-430D-9ADE-5D7CB280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196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隐藏原答案，检查唯一性、难度和来源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3BEF4D-B36F-4D79-9456-B2868E0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9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3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8CA62-E7B5-439D-A589-5C3E722F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40005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739783"/>
          </a:solidFill>
          <a:ln xmlns:a="http://schemas.openxmlformats.org/drawingml/2006/main" w="0">
            <a:solidFill>
              <a:srgbClr val="7397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56F078-CC5A-43D7-9EE0-81821A70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CCE3F5-51A7-40F9-B424-98E30461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8160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校验去重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FED706-EF89-4994-8710-250CD5C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435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Spring 二次结构校验与跨批次模糊去重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C22ED6-D809-4C04-959D-AC9AD868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9AB8BC-B05D-4EED-A2C0-186884FA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198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practice_question 保存题目、作答草稿、评分、蓝图元数据、来源知识块和质量分。</a:t>
            </a:r>
          </a:p>
        </p:txBody>
      </p:sp>
    </p:spTree>
    <p:extLst>
      <p:ext uri="{BB962C8B-B14F-4D97-AF65-F5344CB8AC3E}">
        <p14:creationId xmlns:p14="http://schemas.microsoft.com/office/powerpoint/2010/main" val="8582803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040E5-3BDB-47A5-9EFD-B0CD1BF6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MASTERY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74FAC-8CD4-4399-AE78-0428EEE2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掌握度优先相信真实作答证据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C6551-93C0-4705-9305-F70273BA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2170C-ECB1-4386-A668-38CED1B7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BA83D-AD72-4BEF-A2D6-F2C5F189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724650" cy="45339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ac681766c4342"/>
          <a:stretch xmlns:a="http://schemas.openxmlformats.org/drawingml/2006/main"/>
        </p:blipFill>
        <p:spPr>
          <a:xfrm xmlns:a="http://schemas.openxmlformats.org/drawingml/2006/main">
            <a:off x="609600" y="2086570"/>
            <a:ext cx="6534150" cy="3675459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F21B2-1912-4F85-ADE0-1245B00D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322D"/>
                </a:solidFill>
              </a:defRPr>
            </a:pPr>
            <a:r>
              <a:rPr sz="2250" b="1">
                <a:solidFill>
                  <a:srgbClr val="3B322D"/>
                </a:solidFill>
              </a:rPr>
              <a:t>当前 MVP 口径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9D6CD-E5B3-4DAD-B277-0EB08FC9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38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计划覆盖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F6D81-6F83-42F9-ABFE-B5AC0014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350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作为低权重起点；没有作答证据时不会给出高掌握分。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AE369D-4621-4129-B6D1-9BBA694C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33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练习提交率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F21CC-B457-42A7-97B3-D8B2605E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8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38DE4-1976-4EB0-A773-0B73F7E1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9570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8FA7"/>
                </a:solidFill>
              </a:defRPr>
            </a:pPr>
            <a:r>
              <a:rPr sz="1800" b="1">
                <a:solidFill>
                  <a:srgbClr val="6F8FA7"/>
                </a:solidFill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009C53-726F-4951-BD01-D797F19D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053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正确率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404D5-15CF-488F-AFB7-2915AD92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362450"/>
            <a:ext cx="1981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5DADCD-2368-44DD-8F92-56F03CDF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481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858"/>
                </a:solidFill>
              </a:defRPr>
            </a:pPr>
            <a:r>
              <a:rPr sz="1800" b="1">
                <a:solidFill>
                  <a:srgbClr val="B87858"/>
                </a:solidFill>
              </a:rPr>
              <a:t>65%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559D01-797B-4C96-B10E-C9EEBD8D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76800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练习覆盖量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44C70-C2EE-4DC7-A470-9F77322A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33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97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14C3A5-B29C-46CC-9AD8-251CC96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819650"/>
            <a:ext cx="76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39783"/>
                </a:solidFill>
              </a:defRPr>
            </a:pPr>
            <a:r>
              <a:rPr sz="1800" b="1">
                <a:solidFill>
                  <a:srgbClr val="739783"/>
                </a:solidFill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86DDE-A6CB-4771-B4FF-3C9EE207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24500"/>
            <a:ext cx="3657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下一阶段将升级为知识点级 evidence × 难度 × 认知层级 × 来源可靠度 × 时间衰减。</a:t>
            </a:r>
          </a:p>
        </p:txBody>
      </p:sp>
    </p:spTree>
    <p:extLst>
      <p:ext uri="{BB962C8B-B14F-4D97-AF65-F5344CB8AC3E}">
        <p14:creationId xmlns:p14="http://schemas.microsoft.com/office/powerpoint/2010/main" val="1293869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7AC94-D2CB-46B7-ADE1-B6A6CC4B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GROWTH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ADB143-ED02-4D9D-94F2-5A4F0DD8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成果版本让进步可比较、可追溯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4AA2BF-7AA5-448E-9777-46F87697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EC3C1-B320-4607-AF57-C1657574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C7362-26F0-4D30-ADBC-A42CDF62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57350"/>
            <a:ext cx="6553200" cy="4514850"/>
          </a:xfrm>
          <a:prstGeom xmlns:a="http://schemas.openxmlformats.org/drawingml/2006/main" prst="roundRect">
            <a:avLst>
              <a:gd name="adj" fmla="val 3376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0c04f5d1947ee"/>
          <a:stretch xmlns:a="http://schemas.openxmlformats.org/drawingml/2006/main"/>
        </p:blipFill>
        <p:spPr>
          <a:xfrm xmlns:a="http://schemas.openxmlformats.org/drawingml/2006/main">
            <a:off x="609600" y="2125266"/>
            <a:ext cx="6362700" cy="3579019"/>
          </a:xfrm>
          <a:prstGeom xmlns:a="http://schemas.openxmlformats.org/drawingml/2006/main" prst="roundRect">
            <a:avLst>
              <a:gd name="adj" fmla="val 26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4647E-865F-4BEB-B88B-8DC80103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90700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评价智能体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E4ABC2-D219-4BCF-84E1-2E4E66EA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81250"/>
            <a:ext cx="1752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B588B-4B35-4DC6-8735-5B4F9A71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003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完成度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CB36C-B5F8-44F5-84C2-6E02A445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81250"/>
            <a:ext cx="1752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F06532-5BDD-4F7C-8A75-B742B9F22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准确性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43ABA8-CCB5-4F86-9378-11C4D835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14650"/>
            <a:ext cx="1752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25D982-3A4E-4175-AE71-977FF1B2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理解深度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407C35-85C9-45E1-A360-3AB6B1DB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4650"/>
            <a:ext cx="1752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F7B129-D168-4793-8E8D-086F32DE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337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实践性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0DA53-63F6-460A-AC0F-0986884C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36576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D5F0D-F0B6-45DA-A6B3-2F1EB661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表达规范性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E7044-45BA-47A5-B5B4-15A5FD0A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10050"/>
            <a:ext cx="3657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7858"/>
                </a:solidFill>
              </a:defRPr>
            </a:pPr>
            <a:r>
              <a:rPr sz="1800" b="1">
                <a:solidFill>
                  <a:srgbClr val="B87858"/>
                </a:solidFill>
              </a:rPr>
              <a:t>同一具体任务再次提交时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02F6D9-FD82-4FB7-8EFB-6D11651D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482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7858"/>
                </a:solidFill>
              </a:defRPr>
            </a:pPr>
            <a:r>
              <a:rPr sz="975" b="1">
                <a:solidFill>
                  <a:srgbClr val="B87858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FA7C5-3530-4D05-A921-F9421280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29150"/>
            <a:ext cx="3581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版本号递增，只比较最近一份已完成评价的版本。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55090C-7F77-4D06-A6EF-8972B41E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3911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39783"/>
                </a:solidFill>
              </a:defRPr>
            </a:pPr>
            <a:r>
              <a:rPr sz="975" b="1">
                <a:solidFill>
                  <a:srgbClr val="739783"/>
                </a:solidFill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088D5A-8241-4F67-8965-BA1116CF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72100"/>
            <a:ext cx="3581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B322D"/>
                </a:solidFill>
              </a:defRPr>
            </a:pPr>
            <a:r>
              <a:rPr sz="1575" b="0">
                <a:solidFill>
                  <a:srgbClr val="3B322D"/>
                </a:solidFill>
              </a:rPr>
              <a:t>输出分数变化、进步证据、弱项、下一挑战与个性化祝福。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951616-CFA2-4AFB-A261-931B9F78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4958C"/>
                </a:solidFill>
              </a:defRPr>
            </a:pPr>
            <a:r>
              <a:rPr sz="1350" b="1">
                <a:solidFill>
                  <a:srgbClr val="A4958C"/>
                </a:solidFill>
              </a:rPr>
              <a:t>异步状态：PENDING → RUNNING → EVALUATED / ERROR</a:t>
            </a:r>
          </a:p>
        </p:txBody>
      </p:sp>
    </p:spTree>
    <p:extLst>
      <p:ext uri="{BB962C8B-B14F-4D97-AF65-F5344CB8AC3E}">
        <p14:creationId xmlns:p14="http://schemas.microsoft.com/office/powerpoint/2010/main" val="78285430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7B64A-A3FC-4684-8051-54383E9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LIGHT / DARK MODE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75577-4B3A-44A2-A6FD-177B047C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浅色与深色模式服务不同阅读场景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067218-EB72-4790-889B-C82B747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120C10-03FF-4A81-BF3A-B2D199B4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16669-3741-42C8-AEC8-804B351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5391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e6268439e474c"/>
          <a:stretch xmlns:a="http://schemas.openxmlformats.org/drawingml/2006/main"/>
        </p:blipFill>
        <p:spPr>
          <a:xfrm xmlns:a="http://schemas.openxmlformats.org/drawingml/2006/main">
            <a:off x="619125" y="1847850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A4B839-AE7A-4163-8FA3-1CCFCBEC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52600"/>
            <a:ext cx="5391150" cy="3105150"/>
          </a:xfrm>
          <a:prstGeom xmlns:a="http://schemas.openxmlformats.org/drawingml/2006/main" prst="roundRect">
            <a:avLst>
              <a:gd name="adj" fmla="val 4908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9525">
            <a:solidFill>
              <a:srgbClr val="DED3C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d5ca6e66c4034"/>
          <a:stretch xmlns:a="http://schemas.openxmlformats.org/drawingml/2006/main"/>
        </p:blipFill>
        <p:spPr>
          <a:xfrm xmlns:a="http://schemas.openxmlformats.org/drawingml/2006/main">
            <a:off x="6391275" y="1847850"/>
            <a:ext cx="518160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CCD48-52C6-46F8-B87D-1E314C88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87858"/>
                </a:solidFill>
              </a:defRPr>
            </a:pPr>
            <a:r>
              <a:rPr sz="2175" b="1">
                <a:solidFill>
                  <a:srgbClr val="B87858"/>
                </a:solidFill>
              </a:rPr>
              <a:t>浅色模式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3464E9-8AFA-4F4E-A6D7-EC2295C49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暖白、米灰与陶土橙；适合日间、长时间阅读和项目演示。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09799-908B-40F1-9D39-C4F8F518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292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B322D"/>
                </a:solidFill>
              </a:defRPr>
            </a:pPr>
            <a:r>
              <a:rPr sz="2175" b="1">
                <a:solidFill>
                  <a:srgbClr val="3B322D"/>
                </a:solidFill>
              </a:rPr>
              <a:t>深色模式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743C75-DEAC-4E1C-8AC5-F791FB8C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4483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深棕灰与柔和橙；降低暗环境亮度刺激，同时保留品牌识别。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B0454D-F1A2-4766-AC94-42132F246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172200"/>
            <a:ext cx="1524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5AAC-0BC6-4F02-83C1-CE186D92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1912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B322D"/>
                </a:solidFill>
              </a:defRPr>
            </a:pPr>
            <a:r>
              <a:rPr sz="1425" b="1">
                <a:solidFill>
                  <a:srgbClr val="3B322D"/>
                </a:solidFill>
              </a:rPr>
              <a:t>跟随系统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ECC90C-1D06-478E-9F66-145AA5B7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172200"/>
            <a:ext cx="1143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095D4-CE05-4093-A815-CB0A5F35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1912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87858"/>
                </a:solidFill>
              </a:defRPr>
            </a:pPr>
            <a:r>
              <a:rPr sz="1425" b="1">
                <a:solidFill>
                  <a:srgbClr val="B87858"/>
                </a:solidFill>
              </a:rPr>
              <a:t>浅色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52DFBA-96BC-4403-9A84-0970CCF0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6172200"/>
            <a:ext cx="11430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32D29"/>
          </a:solidFill>
          <a:ln xmlns:a="http://schemas.openxmlformats.org/drawingml/2006/main" w="0">
            <a:solidFill>
              <a:srgbClr val="332D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0C941-5A09-470A-8299-A64FCBA1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91250"/>
            <a:ext cx="990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深色</a:t>
            </a:r>
          </a:p>
        </p:txBody>
      </p:sp>
    </p:spTree>
    <p:extLst>
      <p:ext uri="{BB962C8B-B14F-4D97-AF65-F5344CB8AC3E}">
        <p14:creationId xmlns:p14="http://schemas.microsoft.com/office/powerpoint/2010/main" val="114447163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E3E7E2-0574-4051-AB24-80B25D8F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7858"/>
                </a:solidFill>
              </a:defRPr>
            </a:pPr>
            <a:r>
              <a:rPr sz="1275" b="1">
                <a:solidFill>
                  <a:srgbClr val="B87858"/>
                </a:solidFill>
              </a:rPr>
              <a:t>MULTI-AGENT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54946-6139-49B1-8095-BEEEB5DF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3B322D"/>
                </a:solidFill>
              </a:defRPr>
            </a:pPr>
            <a:r>
              <a:rPr sz="3525" b="1">
                <a:solidFill>
                  <a:srgbClr val="3B322D"/>
                </a:solidFill>
              </a:rPr>
              <a:t>四条协作链串起十个智能体角色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AF67AB-DF64-4D9D-BD46-42AB0A3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1F0B9-C575-4D1B-AB7B-65D385FC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4958C"/>
                </a:solidFill>
              </a:defRPr>
            </a:pPr>
            <a:r>
              <a:rPr sz="1200" b="1">
                <a:solidFill>
                  <a:srgbClr val="A4958C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88A3B-F2A5-43BF-B91B-4224D08E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2FA6C-141F-4900-81A6-A0C38685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对话链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80D49-CD6E-4FD6-94F5-FF641B21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8859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决策画像 → 对话导师 → 回答审核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C217F-3D94-4655-9954-C3043B5D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85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EEF3"/>
          </a:solidFill>
          <a:ln xmlns:a="http://schemas.openxmlformats.org/drawingml/2006/main" w="0">
            <a:solidFill>
              <a:srgbClr val="E7EE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1E4444-A968-4CF5-8C57-90786459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计划链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D7FAA-47F1-406D-BFA1-F929155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670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学习计划 → 版本合并 → 资源推荐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74C848-68F1-4908-BA5E-0297FE2B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685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7F0EA"/>
          </a:solidFill>
          <a:ln xmlns:a="http://schemas.openxmlformats.org/drawingml/2006/main" w="0">
            <a:solidFill>
              <a:srgbClr val="E7F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9CA8EF-9917-4D62-9FC1-EA61E486F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练习链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FE12E3-40AC-4940-AA14-F532FB2B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4480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知识检索 → 出题蓝图 → 候选生成 → 题目审核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5E8C2-6B22-4BB7-B748-77F5153C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6858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DFB"/>
          </a:solidFill>
          <a:ln xmlns:a="http://schemas.openxmlformats.org/drawingml/2006/main" w="0">
            <a:solidFill>
              <a:srgbClr val="FFFD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AB290-81F5-47B5-B52C-54AB4241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B322D"/>
                </a:solidFill>
              </a:defRPr>
            </a:pPr>
            <a:r>
              <a:rPr sz="1875" b="1">
                <a:solidFill>
                  <a:srgbClr val="3B322D"/>
                </a:solidFill>
              </a:rPr>
              <a:t>成果链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983D2-6B42-4A8C-ABA4-3598998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2910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历史汇总 → 成长评价 → 画像与计划反馈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0E23CA-CFF7-4575-A216-A50BA37D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288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B322D"/>
                </a:solidFill>
              </a:defRPr>
            </a:pPr>
            <a:r>
              <a:rPr sz="2250" b="1">
                <a:solidFill>
                  <a:srgbClr val="3B322D"/>
                </a:solidFill>
              </a:rPr>
              <a:t>职责分布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555185-AB4B-4693-B5F9-DEEAEEDD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030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87858"/>
                </a:solidFill>
              </a:defRPr>
            </a:pPr>
            <a:r>
              <a:rPr sz="1725" b="1">
                <a:solidFill>
                  <a:srgbClr val="B87858"/>
                </a:solidFill>
              </a:rPr>
              <a:t>8 个角色直接调用 MiMo-v2.5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8783A-4D78-4140-9DCB-C66B9D81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资源推荐和默认出题蓝图采用可验证的搜索或规则。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2B043-1CC0-40AB-AE5C-B02B8D3D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76650"/>
            <a:ext cx="3257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F8FA7"/>
                </a:solidFill>
              </a:defRPr>
            </a:pPr>
            <a:r>
              <a:rPr sz="1725" b="1">
                <a:solidFill>
                  <a:srgbClr val="6F8FA7"/>
                </a:solidFill>
              </a:rPr>
              <a:t>四个共享模型客户端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B0684-CD91-4350-B596-F7EA6EEF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57650"/>
            <a:ext cx="3257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76960"/>
                </a:solidFill>
              </a:defRPr>
            </a:pPr>
            <a:r>
              <a:rPr sz="1425" b="0">
                <a:solidFill>
                  <a:srgbClr val="776960"/>
                </a:solidFill>
              </a:rPr>
              <a:t>llm · review_llm · question_llm · question_review_llm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8A53AD-AF42-49A4-BD8F-55158DDC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Spring Boot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A525A0-EB0C-490F-9266-B72A17F7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2959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认证、SSE、事务、知识检索与持久化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5A0C9-B2FB-423C-9494-DBE58A4B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334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B322D"/>
                </a:solidFill>
              </a:defRPr>
            </a:pPr>
            <a:r>
              <a:rPr sz="1800" b="1">
                <a:solidFill>
                  <a:srgbClr val="3B322D"/>
                </a:solidFill>
              </a:rPr>
              <a:t>FastAPI + LangChain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9FA17E-9081-4C4C-B7EC-D00BBC3D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95900"/>
            <a:ext cx="2457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76960"/>
                </a:solidFill>
              </a:defRPr>
            </a:pPr>
            <a:r>
              <a:rPr sz="1575" b="0">
                <a:solidFill>
                  <a:srgbClr val="776960"/>
                </a:solidFill>
              </a:rPr>
              <a:t>模型推理、结构化生成和规则校验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031DF-3FD8-4BBF-9C32-1C033E38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B4AC06-862E-4929-B5D3-A01E46F9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62650"/>
            <a:ext cx="1051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B322D"/>
                </a:solidFill>
              </a:defRPr>
            </a:pPr>
            <a:r>
              <a:rPr sz="1575" b="1">
                <a:solidFill>
                  <a:srgbClr val="3B322D"/>
                </a:solidFill>
              </a:rPr>
              <a:t>对话、画像证据、计划版本、题目、提交记录、评价和决策日志均写入 MySQL。</a:t>
            </a:r>
          </a:p>
        </p:txBody>
      </p:sp>
    </p:spTree>
    <p:extLst>
      <p:ext uri="{BB962C8B-B14F-4D97-AF65-F5344CB8AC3E}">
        <p14:creationId xmlns:p14="http://schemas.microsoft.com/office/powerpoint/2010/main" val="73690483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6F2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4B0C6-D2C0-4331-A57B-BB1E50A5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7858"/>
                </a:solidFill>
              </a:defRPr>
            </a:pPr>
            <a:r>
              <a:rPr sz="1350" b="1">
                <a:solidFill>
                  <a:srgbClr val="B87858"/>
                </a:solidFill>
              </a:rPr>
              <a:t>PROJECT TAKEAWAY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66621-9454-4B29-A87A-D429AB8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3B322D"/>
                </a:solidFill>
              </a:defRPr>
            </a:pPr>
            <a:r>
              <a:rPr sz="4200" b="1">
                <a:solidFill>
                  <a:srgbClr val="3B322D"/>
                </a:solidFill>
              </a:rPr>
              <a:t>从一次回答，走向长期学习陪伴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1A7F8-BB74-403F-8BE7-86D4257C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776960"/>
                </a:solidFill>
              </a:defRPr>
            </a:pPr>
            <a:r>
              <a:rPr sz="2100" b="0">
                <a:solidFill>
                  <a:srgbClr val="776960"/>
                </a:solidFill>
              </a:rPr>
              <a:t>项目把个性化落实为可解释的画像证据、可执行的学习行动和可验证的成长结果。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D352D-7DC2-4A49-A49C-A783B997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3C95C-EFDF-4220-A417-A086ACB3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理解有依据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18C550-1F5B-45C0-B85E-2F3B23D7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六维画像、证据阈值、三层记忆与临时状态边界。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C8E166-013E-4950-BFCC-DEE4E35B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620384-EA9C-43F5-9C5A-AF452571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行动可调整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2F699-0AA8-4D70-9650-E4CF5902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意图路由、主动澄清、四周计划、资源与练习。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9AD00-0A59-4508-BFA3-04E31993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05150"/>
            <a:ext cx="609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91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6C2A3-8D8A-4268-8766-FD3A2105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71850"/>
            <a:ext cx="3181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B322D"/>
                </a:solidFill>
              </a:defRPr>
            </a:pPr>
            <a:r>
              <a:rPr sz="2325" b="1">
                <a:solidFill>
                  <a:srgbClr val="3B322D"/>
                </a:solidFill>
              </a:rPr>
              <a:t>结果能验证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0DE74-2C67-4A95-AA0C-D41FDD1C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3181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776960"/>
                </a:solidFill>
              </a:defRPr>
            </a:pPr>
            <a:r>
              <a:rPr sz="1650" b="0">
                <a:solidFill>
                  <a:srgbClr val="776960"/>
                </a:solidFill>
              </a:rPr>
              <a:t>质量审查、掌握度、成果版本和五维成长评价。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FC7BB-32FF-4156-96E8-6862E43E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9728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E2D8"/>
          </a:solidFill>
          <a:ln xmlns:a="http://schemas.openxmlformats.org/drawingml/2006/main" w="0">
            <a:solidFill>
              <a:srgbClr val="F2E2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ED300-D5AA-4541-BE73-09A0CB8F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B322D"/>
                </a:solidFill>
              </a:defRPr>
            </a:pPr>
            <a:r>
              <a:rPr sz="1725" b="1">
                <a:solidFill>
                  <a:srgbClr val="3B322D"/>
                </a:solidFill>
              </a:rPr>
              <a:t>下一步：丰富真实学习数据 · 评测资源有效性 · 完善部署监控 · 扩展知识点级掌握证据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552E4E-82BD-462C-B3F1-6A3BA840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03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7858"/>
                </a:solidFill>
              </a:defRPr>
            </a:pPr>
            <a:r>
              <a:rPr sz="1575" b="1">
                <a:solidFill>
                  <a:srgbClr val="B87858"/>
                </a:solidFill>
              </a:rPr>
              <a:t>让系统不仅会回答，更能理解、规划、陪练并验证每个学习者的进步。</a:t>
            </a:r>
          </a:p>
        </p:txBody>
      </p:sp>
    </p:spTree>
    <p:extLst>
      <p:ext uri="{BB962C8B-B14F-4D97-AF65-F5344CB8AC3E}">
        <p14:creationId xmlns:p14="http://schemas.microsoft.com/office/powerpoint/2010/main" val="16659947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2026-07-19T16:40:40.0360000Z</dcterms:created>
  <dcterms:modified xsi:type="dcterms:W3CDTF">2026-07-19T16:40:40.0360000Z</dcterms:modified>
</coreProperties>
</file>