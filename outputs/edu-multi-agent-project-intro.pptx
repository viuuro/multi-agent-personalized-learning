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0172012a7f4761" /><Relationship Type="http://schemas.openxmlformats.org/officeDocument/2006/relationships/extended-properties" Target="/docProps/app.xml" Id="R9fa02677568647f1" /><Relationship Type="http://schemas.openxmlformats.org/officeDocument/2006/relationships/officeDocument" Target="/ppt/presentation.xml" Id="R261f35361b9e4b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e9c124773d40ab"/>
  </p:sldMasterIdLst>
  <p:notesMasterIdLst>
    <p:notesMasterId xmlns:r="http://schemas.openxmlformats.org/officeDocument/2006/relationships" r:id="Raf9d2612ef454aca"/>
  </p:notesMasterIdLst>
  <p:sldIdLst>
    <p:sldId xmlns:r="http://schemas.openxmlformats.org/officeDocument/2006/relationships" id="256" r:id="Rf261828299d248b8"/>
    <p:sldId xmlns:r="http://schemas.openxmlformats.org/officeDocument/2006/relationships" id="257" r:id="Rc0a213ad2bba4c12"/>
    <p:sldId xmlns:r="http://schemas.openxmlformats.org/officeDocument/2006/relationships" id="258" r:id="R7f54a53ccb06424d"/>
    <p:sldId xmlns:r="http://schemas.openxmlformats.org/officeDocument/2006/relationships" id="259" r:id="R5cf87ea39fe642f5"/>
    <p:sldId xmlns:r="http://schemas.openxmlformats.org/officeDocument/2006/relationships" id="260" r:id="Rc8e19e97e5a04e67"/>
    <p:sldId xmlns:r="http://schemas.openxmlformats.org/officeDocument/2006/relationships" id="261" r:id="R06dd79c5eebd446c"/>
    <p:sldId xmlns:r="http://schemas.openxmlformats.org/officeDocument/2006/relationships" id="262" r:id="Rd49c8fd9ce774679"/>
    <p:sldId xmlns:r="http://schemas.openxmlformats.org/officeDocument/2006/relationships" id="263" r:id="Re3d18cac2e5d44b3"/>
    <p:sldId xmlns:r="http://schemas.openxmlformats.org/officeDocument/2006/relationships" id="264" r:id="R10149bd3ec4e4c2b"/>
    <p:sldId xmlns:r="http://schemas.openxmlformats.org/officeDocument/2006/relationships" id="265" r:id="R7e20d46f1db145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0a9512b73d497f" /><Relationship Type="http://schemas.openxmlformats.org/officeDocument/2006/relationships/slideMaster" Target="/ppt/slideMasters/slideMaster1.xml" Id="R3be9c124773d40ab" /><Relationship Type="http://schemas.openxmlformats.org/officeDocument/2006/relationships/notesMaster" Target="/ppt/notesMasters/notesMaster1.xml" Id="Raf9d2612ef454aca" /><Relationship Type="http://schemas.openxmlformats.org/officeDocument/2006/relationships/presProps" Target="/ppt/presProps.xml" Id="Rf22376b703e34359" /><Relationship Type="http://schemas.openxmlformats.org/officeDocument/2006/relationships/tableStyles" Target="/ppt/tableStyles.xml" Id="Rf0e4adfc74bf404a" /><Relationship Type="http://schemas.openxmlformats.org/officeDocument/2006/relationships/slide" Target="/ppt/slides/slide1.xml" Id="Rf261828299d248b8" /><Relationship Type="http://schemas.openxmlformats.org/officeDocument/2006/relationships/slide" Target="/ppt/slides/slide2.xml" Id="Rc0a213ad2bba4c12" /><Relationship Type="http://schemas.openxmlformats.org/officeDocument/2006/relationships/slide" Target="/ppt/slides/slide3.xml" Id="R7f54a53ccb06424d" /><Relationship Type="http://schemas.openxmlformats.org/officeDocument/2006/relationships/slide" Target="/ppt/slides/slide4.xml" Id="R5cf87ea39fe642f5" /><Relationship Type="http://schemas.openxmlformats.org/officeDocument/2006/relationships/slide" Target="/ppt/slides/slide5.xml" Id="Rc8e19e97e5a04e67" /><Relationship Type="http://schemas.openxmlformats.org/officeDocument/2006/relationships/slide" Target="/ppt/slides/slide6.xml" Id="R06dd79c5eebd446c" /><Relationship Type="http://schemas.openxmlformats.org/officeDocument/2006/relationships/slide" Target="/ppt/slides/slide7.xml" Id="Rd49c8fd9ce774679" /><Relationship Type="http://schemas.openxmlformats.org/officeDocument/2006/relationships/slide" Target="/ppt/slides/slide8.xml" Id="Re3d18cac2e5d44b3" /><Relationship Type="http://schemas.openxmlformats.org/officeDocument/2006/relationships/slide" Target="/ppt/slides/slide9.xml" Id="R10149bd3ec4e4c2b" /><Relationship Type="http://schemas.openxmlformats.org/officeDocument/2006/relationships/slide" Target="/ppt/slides/slide10.xml" Id="R7e20d46f1db145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bbce0b742946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49225859bf4c8c" /><Relationship Type="http://schemas.openxmlformats.org/officeDocument/2006/relationships/notesMaster" Target="/ppt/notesMasters/notesMaster1.xml" Id="Rc72cda5314e54f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537d2fc6144035" /><Relationship Type="http://schemas.openxmlformats.org/officeDocument/2006/relationships/notesMaster" Target="/ppt/notesMasters/notesMaster1.xml" Id="Rb55f56786e0542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7b51faf3ef4cee" /><Relationship Type="http://schemas.openxmlformats.org/officeDocument/2006/relationships/notesMaster" Target="/ppt/notesMasters/notesMaster1.xml" Id="R141dfa23de1847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14f450ca9b4aa0" /><Relationship Type="http://schemas.openxmlformats.org/officeDocument/2006/relationships/notesMaster" Target="/ppt/notesMasters/notesMaster1.xml" Id="Re5a4a9e206b745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1b39317fbc48f5" /><Relationship Type="http://schemas.openxmlformats.org/officeDocument/2006/relationships/notesMaster" Target="/ppt/notesMasters/notesMaster1.xml" Id="R6e72961790af4e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39dc75d98049f3" /><Relationship Type="http://schemas.openxmlformats.org/officeDocument/2006/relationships/notesMaster" Target="/ppt/notesMasters/notesMaster1.xml" Id="R0f5b1a1ebcac4a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615b20cb8c44bb" /><Relationship Type="http://schemas.openxmlformats.org/officeDocument/2006/relationships/notesMaster" Target="/ppt/notesMasters/notesMaster1.xml" Id="R776c0674923c4c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cb0d980b304a0a" /><Relationship Type="http://schemas.openxmlformats.org/officeDocument/2006/relationships/notesMaster" Target="/ppt/notesMasters/notesMaster1.xml" Id="Rd90539a4dcfa4f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bfc5f5052b4c84" /><Relationship Type="http://schemas.openxmlformats.org/officeDocument/2006/relationships/notesMaster" Target="/ppt/notesMasters/notesMaster1.xml" Id="R8742dadd647e4a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a0552172324d9a" /><Relationship Type="http://schemas.openxmlformats.org/officeDocument/2006/relationships/notesMaster" Target="/ppt/notesMasters/notesMaster1.xml" Id="Rae509c0f0d1745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615922c464a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916d1672a2488e" /><Relationship Type="http://schemas.openxmlformats.org/officeDocument/2006/relationships/slideLayout" Target="/ppt/slideLayouts/slideLayout1.xml" Id="Ref13cf9b496445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13cf9b496445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4bf131ffc4c62" /><Relationship Type="http://schemas.openxmlformats.org/officeDocument/2006/relationships/image" Target="/ppt/media/image.jpeg" Id="R7f4e071d1e124ca4" /><Relationship Type="http://schemas.openxmlformats.org/officeDocument/2006/relationships/notesSlide" Target="/ppt/notesSlides/notesSlide1.xml" Id="R9d5a0bb1cf984e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37e20aa0643a1" /><Relationship Type="http://schemas.openxmlformats.org/officeDocument/2006/relationships/notesSlide" Target="/ppt/notesSlides/notesSlide2.xml" Id="Rf40ef0350d5f4b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bd805e2a94324" /><Relationship Type="http://schemas.openxmlformats.org/officeDocument/2006/relationships/image" Target="/ppt/media/image2.jpeg" Id="R2776f8851c8f4ba5" /><Relationship Type="http://schemas.openxmlformats.org/officeDocument/2006/relationships/notesSlide" Target="/ppt/notesSlides/notesSlide3.xml" Id="Ree53b0529a6246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1dc0272104750" /><Relationship Type="http://schemas.openxmlformats.org/officeDocument/2006/relationships/notesSlide" Target="/ppt/notesSlides/notesSlide4.xml" Id="R10e5ecba229143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7a1a435884e50" /><Relationship Type="http://schemas.openxmlformats.org/officeDocument/2006/relationships/image" Target="/ppt/media/image3.jpeg" Id="Rfda663d79b7d42f0" /><Relationship Type="http://schemas.openxmlformats.org/officeDocument/2006/relationships/notesSlide" Target="/ppt/notesSlides/notesSlide5.xml" Id="Rc8035c4f591046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5e94ea985409b" /><Relationship Type="http://schemas.openxmlformats.org/officeDocument/2006/relationships/image" Target="/ppt/media/image4.jpeg" Id="R8182723ee453401f" /><Relationship Type="http://schemas.openxmlformats.org/officeDocument/2006/relationships/notesSlide" Target="/ppt/notesSlides/notesSlide6.xml" Id="R1466635260164c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ec1ea12f24c7d" /><Relationship Type="http://schemas.openxmlformats.org/officeDocument/2006/relationships/image" Target="/ppt/media/image5.jpeg" Id="Ref921453c9a54e41" /><Relationship Type="http://schemas.openxmlformats.org/officeDocument/2006/relationships/image" Target="/ppt/media/image6.jpeg" Id="Rfcbfcb05c2d546f3" /><Relationship Type="http://schemas.openxmlformats.org/officeDocument/2006/relationships/notesSlide" Target="/ppt/notesSlides/notesSlide7.xml" Id="Rec0ec7c9319945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db31a3ade4b60" /><Relationship Type="http://schemas.openxmlformats.org/officeDocument/2006/relationships/image" Target="/ppt/media/image7.jpeg" Id="R6f7147df224a4a32" /><Relationship Type="http://schemas.openxmlformats.org/officeDocument/2006/relationships/notesSlide" Target="/ppt/notesSlides/notesSlide8.xml" Id="R4b756b1e2a0247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654777f66468b" /><Relationship Type="http://schemas.openxmlformats.org/officeDocument/2006/relationships/notesSlide" Target="/ppt/notesSlides/notesSlide9.xml" Id="Rfc79ead8d3dd4b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6d3ff898e4939" /><Relationship Type="http://schemas.openxmlformats.org/officeDocument/2006/relationships/notesSlide" Target="/ppt/notesSlides/notesSlide10.xml" Id="R2d240ac915564a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F29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e071d1e124ca4"/>
          <a:srcRect xmlns:a="http://schemas.openxmlformats.org/drawingml/2006/main" l="25391" t="0" r="253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941FE-793F-4A2E-8C17-A53A3772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29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B5E8B-7970-46FE-819B-C11DBF22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CDD0A-BD1E-4A90-BE51-CBCFA937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4916F"/>
                </a:solidFill>
              </a:defRPr>
            </a:pPr>
            <a:r>
              <a:rPr sz="1275" b="1">
                <a:solidFill>
                  <a:srgbClr val="D4916F"/>
                </a:solidFill>
              </a:rPr>
              <a:t>PERSONALIZED LEARNING · MULTI-AGENT 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1A22A-CED5-4218-85B2-F5A5A418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334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DFB"/>
                </a:solidFill>
              </a:defRPr>
            </a:pPr>
            <a:r>
              <a:rPr sz="5250" b="1">
                <a:solidFill>
                  <a:srgbClr val="FFFDFB"/>
                </a:solidFill>
              </a:rPr>
              <a:t>个性化学习</a:t>
            </a:r>
          </a:p>
          <a:p xmlns:a="http://schemas.openxmlformats.org/drawingml/2006/main">
            <a:pPr algn="l">
              <a:defRPr sz="5250" b="1">
                <a:solidFill>
                  <a:srgbClr val="FFFDFB"/>
                </a:solidFill>
              </a:defRPr>
            </a:pPr>
            <a:r>
              <a:rPr sz="5250" b="1">
                <a:solidFill>
                  <a:srgbClr val="FFFDFB"/>
                </a:solidFill>
              </a:rPr>
              <a:t>多智能体系统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3EE19-3510-4316-9BF5-88375193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CCFC7"/>
                </a:solidFill>
              </a:defRPr>
            </a:pPr>
            <a:r>
              <a:rPr sz="1950" b="0">
                <a:solidFill>
                  <a:srgbClr val="DCCFC7"/>
                </a:solidFill>
              </a:rPr>
              <a:t>让对话、画像、计划、练习与成长证据持续联动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2FE52-4C12-478A-BD3B-3EC2632C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BAAA0"/>
                </a:solidFill>
              </a:defRPr>
            </a:pPr>
            <a:r>
              <a:rPr sz="1350" b="0">
                <a:solidFill>
                  <a:srgbClr val="BBAAA0"/>
                </a:solidFill>
              </a:rPr>
              <a:t>Spring Boot · FastAPI · LangChain · MiMo-v2.5 · Vue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6C6D7-5497-49A2-842A-C481A453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916F"/>
                </a:solidFill>
              </a:defRPr>
            </a:pPr>
            <a:r>
              <a:rPr sz="1350" b="1">
                <a:solidFill>
                  <a:srgbClr val="D4916F"/>
                </a:solidFill>
              </a:rPr>
              <a:t>项目介绍</a:t>
            </a:r>
          </a:p>
        </p:txBody>
      </p:sp>
    </p:spTree>
    <p:extLst>
      <p:ext uri="{BB962C8B-B14F-4D97-AF65-F5344CB8AC3E}">
        <p14:creationId xmlns:p14="http://schemas.microsoft.com/office/powerpoint/2010/main" val="15217752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2D4A3F-E27B-4583-ADFB-AFBDD1E0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BC434-7D07-401F-B590-71E9E6FE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92F2A"/>
                </a:solidFill>
              </a:defRPr>
            </a:pPr>
            <a:r>
              <a:rPr sz="3600" b="1">
                <a:solidFill>
                  <a:srgbClr val="392F2A"/>
                </a:solidFill>
              </a:rPr>
              <a:t>它不是一次问答，而是一条持续更新的学习闭环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2540E-417A-446E-B5AC-523853E9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52E71-EB78-4CA5-855C-F888FF13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A6A60"/>
                </a:solidFill>
              </a:defRPr>
            </a:pPr>
            <a:r>
              <a:rPr sz="1200" b="1">
                <a:solidFill>
                  <a:srgbClr val="7A6A60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2EE0D-DC42-4735-88E7-31676726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A6A60"/>
                </a:solidFill>
              </a:defRPr>
            </a:pPr>
            <a:r>
              <a:rPr sz="2025" b="0">
                <a:solidFill>
                  <a:srgbClr val="7A6A60"/>
                </a:solidFill>
              </a:rPr>
              <a:t>系统把零散的学习对话转化为可执行计划，再把练习与成果沉淀为新的个性化依据。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5D62A-3F06-4C45-ADC6-232F711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B87858"/>
                </a:solidFill>
              </a:defRPr>
            </a:pPr>
            <a:r>
              <a:rPr sz="4950" b="1">
                <a:solidFill>
                  <a:srgbClr val="B87858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D58C5-235B-494F-AF00-1441E143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92F2A"/>
                </a:solidFill>
              </a:defRPr>
            </a:pPr>
            <a:r>
              <a:rPr sz="1875" b="1">
                <a:solidFill>
                  <a:srgbClr val="392F2A"/>
                </a:solidFill>
              </a:rPr>
              <a:t>智能体角色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C953B-96F1-483B-81A1-56D05C51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247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A6A60"/>
                </a:solidFill>
              </a:defRPr>
            </a:pPr>
            <a:r>
              <a:rPr sz="1575" b="0">
                <a:solidFill>
                  <a:srgbClr val="7A6A60"/>
                </a:solidFill>
              </a:rPr>
              <a:t>覆盖决策、辅导、规划、出题、审核与成长评估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EFECE-3672-46D2-A223-941ACCDA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917E9-BABF-4B9C-AD0A-205AE39F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956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B87858"/>
                </a:solidFill>
              </a:defRPr>
            </a:pPr>
            <a:r>
              <a:rPr sz="4950" b="1">
                <a:solidFill>
                  <a:srgbClr val="B87858"/>
                </a:solidFill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9E441-F243-4CB0-8085-B224E37C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814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92F2A"/>
                </a:solidFill>
              </a:defRPr>
            </a:pPr>
            <a:r>
              <a:rPr sz="1875" b="1">
                <a:solidFill>
                  <a:srgbClr val="392F2A"/>
                </a:solidFill>
              </a:rPr>
              <a:t>画像维度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483D7-B332-4868-9C92-9A424009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48150"/>
            <a:ext cx="2247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A6A60"/>
                </a:solidFill>
              </a:defRPr>
            </a:pPr>
            <a:r>
              <a:rPr sz="1575" b="0">
                <a:solidFill>
                  <a:srgbClr val="7A6A60"/>
                </a:solidFill>
              </a:rPr>
              <a:t>知识基础、认知风格、薄弱点、节奏、兴趣与目标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7E60E-870A-4166-9E60-35C8E2B0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28950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601A9-C225-4C6E-B0CF-307A9E78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956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B87858"/>
                </a:solidFill>
              </a:defRPr>
            </a:pPr>
            <a:r>
              <a:rPr sz="4950" b="1">
                <a:solidFill>
                  <a:srgbClr val="B87858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5F423-03E1-40C4-8F21-CE220D08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814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92F2A"/>
                </a:solidFill>
              </a:defRPr>
            </a:pPr>
            <a:r>
              <a:rPr sz="1875" b="1">
                <a:solidFill>
                  <a:srgbClr val="392F2A"/>
                </a:solidFill>
              </a:rPr>
              <a:t>周学习计划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41313-B96B-4D4F-9860-CF447DCC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48150"/>
            <a:ext cx="2247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A6A60"/>
                </a:solidFill>
              </a:defRPr>
            </a:pPr>
            <a:r>
              <a:rPr sz="1575" b="0">
                <a:solidFill>
                  <a:srgbClr val="7A6A60"/>
                </a:solidFill>
              </a:rPr>
              <a:t>每周任务、资源推荐、反馈与局部修订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BF92B-6FF1-4F0E-83E8-E0BC7DD8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28950"/>
            <a:ext cx="95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681C60-3378-4A50-AA4E-AADFCF17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95600"/>
            <a:ext cx="2190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B87858"/>
                </a:solidFill>
              </a:defRPr>
            </a:pPr>
            <a:r>
              <a:rPr sz="4950" b="1">
                <a:solidFill>
                  <a:srgbClr val="B87858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C4AE4-4BDF-4E06-A834-5BB27922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814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92F2A"/>
                </a:solidFill>
              </a:defRPr>
            </a:pPr>
            <a:r>
              <a:rPr sz="1875" b="1">
                <a:solidFill>
                  <a:srgbClr val="392F2A"/>
                </a:solidFill>
              </a:rPr>
              <a:t>成果评价维度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8B937-E03B-4E57-BE27-B67BA7CB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48150"/>
            <a:ext cx="2247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A6A60"/>
                </a:solidFill>
              </a:defRPr>
            </a:pPr>
            <a:r>
              <a:rPr sz="1575" b="0">
                <a:solidFill>
                  <a:srgbClr val="7A6A60"/>
                </a:solidFill>
              </a:rPr>
              <a:t>完成度、准确性、深度、实践性与表达规范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A2F11-76FD-43DC-B250-FBFEDB64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92F2A"/>
                </a:solidFill>
              </a:defRPr>
            </a:pPr>
            <a:r>
              <a:rPr sz="1800" b="1">
                <a:solidFill>
                  <a:srgbClr val="392F2A"/>
                </a:solidFill>
              </a:rPr>
              <a:t>核心变化：系统记住的不只是聊天记录，而是可验证、可复用、可演进的学习证据。</a:t>
            </a:r>
          </a:p>
        </p:txBody>
      </p:sp>
    </p:spTree>
    <p:extLst>
      <p:ext uri="{BB962C8B-B14F-4D97-AF65-F5344CB8AC3E}">
        <p14:creationId xmlns:p14="http://schemas.microsoft.com/office/powerpoint/2010/main" val="1077711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48B77-3F85-4696-8FCE-EF828196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PRODUCT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D914E-4EF0-4BD2-874D-7883E825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92F2A"/>
                </a:solidFill>
              </a:defRPr>
            </a:pPr>
            <a:r>
              <a:rPr sz="3600" b="1">
                <a:solidFill>
                  <a:srgbClr val="392F2A"/>
                </a:solidFill>
              </a:rPr>
              <a:t>一个工作台同时承载对话、画像、计划与学习数据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1FC43-39A8-49B9-B181-11510695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0F814-5289-470D-A4E2-33A9E162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A6A60"/>
                </a:solidFill>
              </a:defRPr>
            </a:pPr>
            <a:r>
              <a:rPr sz="1200" b="1">
                <a:solidFill>
                  <a:srgbClr val="7A6A60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1FDD98-48C6-4A0C-ADD6-FA76E6CA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8420100" cy="47244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3A322D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6f8851c8f4ba5"/>
          <a:stretch xmlns:a="http://schemas.openxmlformats.org/drawingml/2006/main"/>
        </p:blipFill>
        <p:spPr>
          <a:xfrm xmlns:a="http://schemas.openxmlformats.org/drawingml/2006/main">
            <a:off x="728133" y="1790700"/>
            <a:ext cx="7992533" cy="4495800"/>
          </a:xfrm>
          <a:prstGeom xmlns:a="http://schemas.openxmlformats.org/drawingml/2006/main" prst="roundRect">
            <a:avLst>
              <a:gd name="adj" fmla="val 254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1B431-1003-4F8F-87F0-502CB6A3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28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7858"/>
                </a:solidFill>
              </a:defRPr>
            </a:pPr>
            <a:r>
              <a:rPr sz="1350" b="1">
                <a:solidFill>
                  <a:srgbClr val="B87858"/>
                </a:solidFill>
              </a:rPr>
              <a:t>真实运行界面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ACB6B-DBDA-4608-A23B-89AC4E46F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622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858"/>
                </a:solidFill>
              </a:defRPr>
            </a:pPr>
            <a:r>
              <a:rPr sz="112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80C3F-CD88-4249-8A00-E0C30D38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2F2A"/>
                </a:solidFill>
              </a:defRPr>
            </a:pPr>
            <a:r>
              <a:rPr sz="1650" b="0">
                <a:solidFill>
                  <a:srgbClr val="392F2A"/>
                </a:solidFill>
              </a:rPr>
              <a:t>中央对话区支持 Markdown、图片/文件输入与 SSE 流式回复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F242F-9347-4674-B41A-5607CD7C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480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858"/>
                </a:solidFill>
              </a:defRPr>
            </a:pPr>
            <a:r>
              <a:rPr sz="112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DE3D9-3A9A-4D70-8954-F89B6A31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2F2A"/>
                </a:solidFill>
              </a:defRPr>
            </a:pPr>
            <a:r>
              <a:rPr sz="1650" b="0">
                <a:solidFill>
                  <a:srgbClr val="392F2A"/>
                </a:solidFill>
              </a:rPr>
              <a:t>右侧雷达图与四周计划随当前会话同步切换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B48020-C172-452D-87FC-CFFEC701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339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858"/>
                </a:solidFill>
              </a:defRPr>
            </a:pPr>
            <a:r>
              <a:rPr sz="112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72CDC-8231-4078-A433-816F5B20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1485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2F2A"/>
                </a:solidFill>
              </a:defRPr>
            </a:pPr>
            <a:r>
              <a:rPr sz="1650" b="0">
                <a:solidFill>
                  <a:srgbClr val="392F2A"/>
                </a:solidFill>
              </a:rPr>
              <a:t>左侧展示学习活跃度、历史对话与文件沉淀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B63E43-1D91-429B-B20D-87CA37C9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816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A6A60"/>
                </a:solidFill>
              </a:defRPr>
            </a:pPr>
            <a:r>
              <a:rPr sz="1500" b="0">
                <a:solidFill>
                  <a:srgbClr val="7A6A60"/>
                </a:solidFill>
              </a:rPr>
              <a:t>Live2D 陪伴角色提供更具温度的学习交互。</a:t>
            </a:r>
          </a:p>
        </p:txBody>
      </p:sp>
    </p:spTree>
    <p:extLst>
      <p:ext uri="{BB962C8B-B14F-4D97-AF65-F5344CB8AC3E}">
        <p14:creationId xmlns:p14="http://schemas.microsoft.com/office/powerpoint/2010/main" val="10185055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F29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9B284E-6D18-4204-9961-5F9859DA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4916F"/>
                </a:solidFill>
              </a:defRPr>
            </a:pPr>
            <a:r>
              <a:rPr sz="1275" b="1">
                <a:solidFill>
                  <a:srgbClr val="D4916F"/>
                </a:solidFill>
              </a:rPr>
              <a:t>LEARNING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F60F4-FAFC-4CB4-B728-128647DC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DFB"/>
                </a:solidFill>
              </a:defRPr>
            </a:pPr>
            <a:r>
              <a:rPr sz="3600" b="1">
                <a:solidFill>
                  <a:srgbClr val="FFFDFB"/>
                </a:solidFill>
              </a:rPr>
              <a:t>每一次交互都为下一次个性化提供更好的依据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22B24-8536-4C84-BD24-B02EF4D1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456F0-87DB-41B0-89B3-CB26AAB2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E9E94"/>
                </a:solidFill>
              </a:defRPr>
            </a:pPr>
            <a:r>
              <a:rPr sz="1200" b="1">
                <a:solidFill>
                  <a:srgbClr val="AE9E9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EB67A-5CBB-4A5C-ADC6-67F840FB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385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4916F"/>
                </a:solidFill>
              </a:defRPr>
            </a:pPr>
            <a:r>
              <a:rPr sz="27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D2DDD-6C0C-4592-95A8-EBC89F34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385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4916F"/>
                </a:solidFill>
              </a:defRPr>
            </a:pPr>
            <a:r>
              <a:rPr sz="27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79448-1487-49FD-8FD7-6AD3B3E4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385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4916F"/>
                </a:solidFill>
              </a:defRPr>
            </a:pPr>
            <a:r>
              <a:rPr sz="27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C028F-6D28-458B-9335-10D1F19A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3850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4916F"/>
                </a:solidFill>
              </a:defRPr>
            </a:pPr>
            <a:r>
              <a:rPr sz="27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8052E-ECDB-4A45-AF33-95D47DEA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714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A4D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5D049-60D2-4AF3-B67D-F275FF59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DFB"/>
                </a:solidFill>
              </a:defRPr>
            </a:pPr>
            <a:r>
              <a:rPr sz="2175" b="1">
                <a:solidFill>
                  <a:srgbClr val="FFFDFB"/>
                </a:solidFill>
              </a:rPr>
              <a:t>01</a:t>
            </a:r>
          </a:p>
          <a:p xmlns:a="http://schemas.openxmlformats.org/drawingml/2006/main">
            <a:pPr algn="ctr">
              <a:defRPr sz="2175" b="1">
                <a:solidFill>
                  <a:srgbClr val="FFFDFB"/>
                </a:solidFill>
              </a:defRPr>
            </a:pPr>
            <a:r>
              <a:rPr sz="2175" b="1">
                <a:solidFill>
                  <a:srgbClr val="FFFDFB"/>
                </a:solidFill>
              </a:rPr>
              <a:t>提出问题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0D8CB-E4A9-47B6-B18F-EA0400C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FAFA5"/>
                </a:solidFill>
              </a:defRPr>
            </a:pPr>
            <a:r>
              <a:rPr sz="1350" b="0">
                <a:solidFill>
                  <a:srgbClr val="BFAFA5"/>
                </a:solidFill>
              </a:rPr>
              <a:t>对话 / 图片 / 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B2CCD-3F11-4B91-9B2A-320533E7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6500"/>
            <a:ext cx="1714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A4D4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4F89A-C0BA-4B82-B834-EB12DE89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8605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DFB"/>
                </a:solidFill>
              </a:defRPr>
            </a:pPr>
            <a:r>
              <a:rPr sz="2175" b="1">
                <a:solidFill>
                  <a:srgbClr val="FFFDFB"/>
                </a:solidFill>
              </a:rPr>
              <a:t>02</a:t>
            </a:r>
          </a:p>
          <a:p xmlns:a="http://schemas.openxmlformats.org/drawingml/2006/main">
            <a:pPr algn="ctr">
              <a:defRPr sz="2175" b="1">
                <a:solidFill>
                  <a:srgbClr val="FFFDFB"/>
                </a:solidFill>
              </a:defRPr>
            </a:pPr>
            <a:r>
              <a:rPr sz="2175" b="1">
                <a:solidFill>
                  <a:srgbClr val="FFFDFB"/>
                </a:solidFill>
              </a:rPr>
              <a:t>更新画像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11959-778F-4D08-9552-05B4E691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00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FAFA5"/>
                </a:solidFill>
              </a:defRPr>
            </a:pPr>
            <a:r>
              <a:rPr sz="1350" b="0">
                <a:solidFill>
                  <a:srgbClr val="BFAFA5"/>
                </a:solidFill>
              </a:rPr>
              <a:t>长期证据 + 临时状态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7184F-F6B7-4111-AB5D-B923B691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1714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A4D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A33F6-2156-4A03-804E-39130D76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8605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DFB"/>
                </a:solidFill>
              </a:defRPr>
            </a:pPr>
            <a:r>
              <a:rPr sz="2175" b="1">
                <a:solidFill>
                  <a:srgbClr val="FFFDFB"/>
                </a:solidFill>
              </a:rPr>
              <a:t>03</a:t>
            </a:r>
          </a:p>
          <a:p xmlns:a="http://schemas.openxmlformats.org/drawingml/2006/main">
            <a:pPr algn="ctr">
              <a:defRPr sz="2175" b="1">
                <a:solidFill>
                  <a:srgbClr val="FFFDFB"/>
                </a:solidFill>
              </a:defRPr>
            </a:pPr>
            <a:r>
              <a:rPr sz="2175" b="1">
                <a:solidFill>
                  <a:srgbClr val="FFFDFB"/>
                </a:solidFill>
              </a:rPr>
              <a:t>生成计划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BE1F88-7D76-414A-8F1C-874ED32D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00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FAFA5"/>
                </a:solidFill>
              </a:defRPr>
            </a:pPr>
            <a:r>
              <a:rPr sz="1350" b="0">
                <a:solidFill>
                  <a:srgbClr val="BFAFA5"/>
                </a:solidFill>
              </a:rPr>
              <a:t>四周任务 + 资源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A7135-85AE-446F-9C5B-4E6EF5EE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714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A4D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A9948-00B3-47A9-8FA6-D17C3120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8605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DFB"/>
                </a:solidFill>
              </a:defRPr>
            </a:pPr>
            <a:r>
              <a:rPr sz="2175" b="1">
                <a:solidFill>
                  <a:srgbClr val="FFFDFB"/>
                </a:solidFill>
              </a:rPr>
              <a:t>04</a:t>
            </a:r>
          </a:p>
          <a:p xmlns:a="http://schemas.openxmlformats.org/drawingml/2006/main">
            <a:pPr algn="ctr">
              <a:defRPr sz="2175" b="1">
                <a:solidFill>
                  <a:srgbClr val="FFFDFB"/>
                </a:solidFill>
              </a:defRPr>
            </a:pPr>
            <a:r>
              <a:rPr sz="2175" b="1">
                <a:solidFill>
                  <a:srgbClr val="FFFDFB"/>
                </a:solidFill>
              </a:rPr>
              <a:t>练习提交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FE488-ABA6-4988-8CBC-9C549417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FAFA5"/>
                </a:solidFill>
              </a:defRPr>
            </a:pPr>
            <a:r>
              <a:rPr sz="1350" b="0">
                <a:solidFill>
                  <a:srgbClr val="BFAFA5"/>
                </a:solidFill>
              </a:rPr>
              <a:t>题目 / 项目成果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2913D-4BC5-4607-A587-B1719101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76500"/>
            <a:ext cx="1714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9525">
            <a:solidFill>
              <a:srgbClr val="B878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6BC39B-EB68-49A4-A1EF-9A4CF311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86050"/>
            <a:ext cx="1371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DFB"/>
                </a:solidFill>
              </a:defRPr>
            </a:pPr>
            <a:r>
              <a:rPr sz="2175" b="1">
                <a:solidFill>
                  <a:srgbClr val="FFFDFB"/>
                </a:solidFill>
              </a:rPr>
              <a:t>05</a:t>
            </a:r>
          </a:p>
          <a:p xmlns:a="http://schemas.openxmlformats.org/drawingml/2006/main">
            <a:pPr algn="ctr">
              <a:defRPr sz="2175" b="1">
                <a:solidFill>
                  <a:srgbClr val="FFFDFB"/>
                </a:solidFill>
              </a:defRPr>
            </a:pPr>
            <a:r>
              <a:rPr sz="2175" b="1">
                <a:solidFill>
                  <a:srgbClr val="FFFDFB"/>
                </a:solidFill>
              </a:rPr>
              <a:t>评估反馈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622F7F-6F72-4A1F-9015-69BE188A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004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7E9DF"/>
                </a:solidFill>
              </a:defRPr>
            </a:pPr>
            <a:r>
              <a:rPr sz="1350" b="0">
                <a:solidFill>
                  <a:srgbClr val="F7E9DF"/>
                </a:solidFill>
              </a:rPr>
              <a:t>评分 / 进步 / 建议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BBA6A-973A-467B-8C6B-3344CD88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DFB"/>
                </a:solidFill>
              </a:defRPr>
            </a:pPr>
            <a:r>
              <a:rPr sz="2025" b="1">
                <a:solidFill>
                  <a:srgbClr val="FFFDFB"/>
                </a:solidFill>
              </a:rPr>
              <a:t>评估结果写回画像与对话记忆，计划因此可以继续修订，而不是每次从零开始。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D65EF1-2C7E-498D-B88C-35B7A9BB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626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BFAFA5"/>
                </a:solidFill>
              </a:defRPr>
            </a:pPr>
            <a:r>
              <a:rPr sz="1575" b="0">
                <a:solidFill>
                  <a:srgbClr val="BFAFA5"/>
                </a:solidFill>
              </a:rPr>
              <a:t>持久化层保存会话、画像、计划版本、题目、提交记录与 AI 评价。</a:t>
            </a:r>
          </a:p>
        </p:txBody>
      </p:sp>
    </p:spTree>
    <p:extLst>
      <p:ext uri="{BB962C8B-B14F-4D97-AF65-F5344CB8AC3E}">
        <p14:creationId xmlns:p14="http://schemas.microsoft.com/office/powerpoint/2010/main" val="19398031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A658F-3802-4F45-BC00-28B33065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PERSONALIZATION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1A4E4-14FA-4A35-9627-8FC52C83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92F2A"/>
                </a:solidFill>
              </a:defRPr>
            </a:pPr>
            <a:r>
              <a:rPr sz="3600" b="1">
                <a:solidFill>
                  <a:srgbClr val="392F2A"/>
                </a:solidFill>
              </a:rPr>
              <a:t>六维画像让每次回复都拥有真实上下文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CBB92-8915-49DA-8C57-24F94561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2477E-F69D-4B5D-84C5-8C1453D4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A6A60"/>
                </a:solidFill>
              </a:defRPr>
            </a:pPr>
            <a:r>
              <a:rPr sz="1200" b="1">
                <a:solidFill>
                  <a:srgbClr val="7A6A60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5BD56-9A3C-4660-B8F7-748F52FA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A6A60"/>
                </a:solidFill>
              </a:defRPr>
            </a:pPr>
            <a:r>
              <a:rPr sz="1950" b="0">
                <a:solidFill>
                  <a:srgbClr val="7A6A60"/>
                </a:solidFill>
              </a:rPr>
              <a:t>系统从对话中持续提取学习特征，并把画像限定在有证据支持的范围内。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A4002-047C-4566-BADA-A1C5F61B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858"/>
                </a:solidFill>
              </a:defRPr>
            </a:pPr>
            <a:r>
              <a:rPr sz="112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160E7-B441-47D4-8845-2348A5BE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2F2A"/>
                </a:solidFill>
              </a:defRPr>
            </a:pPr>
            <a:r>
              <a:rPr sz="1650" b="0">
                <a:solidFill>
                  <a:srgbClr val="392F2A"/>
                </a:solidFill>
              </a:rPr>
              <a:t>六维结构化画像驱动雷达图与回答风格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91B41-5355-4D84-9268-98211016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858"/>
                </a:solidFill>
              </a:defRPr>
            </a:pPr>
            <a:r>
              <a:rPr sz="112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D372B-357B-4581-A020-6FBB9ADA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2F2A"/>
                </a:solidFill>
              </a:defRPr>
            </a:pPr>
            <a:r>
              <a:rPr sz="1650" b="0">
                <a:solidFill>
                  <a:srgbClr val="392F2A"/>
                </a:solidFill>
              </a:rPr>
              <a:t>长期画像证据带来源与置信度，避免一次对话过度定型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9E6DF5-8BAA-4EB2-9D1D-B1E1FD08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858"/>
                </a:solidFill>
              </a:defRPr>
            </a:pPr>
            <a:r>
              <a:rPr sz="112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C4B6E-B37F-4FD5-B1B0-ACF7E229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053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2F2A"/>
                </a:solidFill>
              </a:defRPr>
            </a:pPr>
            <a:r>
              <a:rPr sz="1650" b="0">
                <a:solidFill>
                  <a:srgbClr val="392F2A"/>
                </a:solidFill>
              </a:rPr>
              <a:t>精力、情绪、可用时间等临时状态单独管理并自动失效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1A0F2-45F4-44E0-9805-C131CB23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4629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2F2A"/>
                </a:solidFill>
              </a:defRPr>
            </a:pPr>
            <a:r>
              <a:rPr sz="1650" b="1">
                <a:solidFill>
                  <a:srgbClr val="392F2A"/>
                </a:solidFill>
              </a:rPr>
              <a:t>结果：相同问题在不同学习者、不同阶段会得到不同的讲解深度与行动建议。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74437-D150-4F19-9172-C6439DAF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57350"/>
            <a:ext cx="6000750" cy="4514850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3A322D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663d79b7d42f0"/>
          <a:stretch xmlns:a="http://schemas.openxmlformats.org/drawingml/2006/main"/>
        </p:blipFill>
        <p:spPr>
          <a:xfrm xmlns:a="http://schemas.openxmlformats.org/drawingml/2006/main">
            <a:off x="5753100" y="2291358"/>
            <a:ext cx="5772150" cy="3246834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</p:spTree>
    <p:extLst>
      <p:ext uri="{BB962C8B-B14F-4D97-AF65-F5344CB8AC3E}">
        <p14:creationId xmlns:p14="http://schemas.microsoft.com/office/powerpoint/2010/main" val="12538163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AB467-8D8E-475A-B330-C8CBD4C3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B2F32-0FEF-4751-9C03-4170D45F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92F2A"/>
                </a:solidFill>
              </a:defRPr>
            </a:pPr>
            <a:r>
              <a:rPr sz="3600" b="1">
                <a:solidFill>
                  <a:srgbClr val="392F2A"/>
                </a:solidFill>
              </a:rPr>
              <a:t>四周计划可反馈、可编辑、可版本化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198A5-9DA6-4E78-9BE1-72F55EE5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827B5-6007-44F7-86E8-4D4EA55E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A6A60"/>
                </a:solidFill>
              </a:defRPr>
            </a:pPr>
            <a:r>
              <a:rPr sz="1200" b="1">
                <a:solidFill>
                  <a:srgbClr val="7A6A60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6EB5F-34DF-4D8D-98D1-11EC05C8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7391400" cy="468630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3A322D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2723ee453401f"/>
          <a:stretch xmlns:a="http://schemas.openxmlformats.org/drawingml/2006/main"/>
        </p:blipFill>
        <p:spPr>
          <a:xfrm xmlns:a="http://schemas.openxmlformats.org/drawingml/2006/main">
            <a:off x="647700" y="1985963"/>
            <a:ext cx="7162800" cy="4029075"/>
          </a:xfrm>
          <a:prstGeom xmlns:a="http://schemas.openxmlformats.org/drawingml/2006/main" prst="roundRect">
            <a:avLst>
              <a:gd name="adj" fmla="val 256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D5E84-33EF-4C19-84D3-1506C3EB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526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7858"/>
                </a:solidFill>
              </a:defRPr>
            </a:pPr>
            <a:r>
              <a:rPr sz="1800" b="1">
                <a:solidFill>
                  <a:srgbClr val="B87858"/>
                </a:solidFill>
              </a:rPr>
              <a:t>计划智能体 × 资源智能体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1DC82-A886-478F-85F5-F1CE67F2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858"/>
                </a:solidFill>
              </a:defRPr>
            </a:pPr>
            <a:r>
              <a:rPr sz="112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86696E-8092-4B1F-B0DF-C1346E5CE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431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2F2A"/>
                </a:solidFill>
              </a:defRPr>
            </a:pPr>
            <a:r>
              <a:rPr sz="1650" b="0">
                <a:solidFill>
                  <a:srgbClr val="392F2A"/>
                </a:solidFill>
              </a:rPr>
              <a:t>按周生成主题与可执行小任务，并为每周匹配学习资源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F6E5CE-50CB-49DF-8639-57F3D966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29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858"/>
                </a:solidFill>
              </a:defRPr>
            </a:pPr>
            <a:r>
              <a:rPr sz="112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9697D-EC33-418A-BF1C-F934E098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099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2F2A"/>
                </a:solidFill>
              </a:defRPr>
            </a:pPr>
            <a:r>
              <a:rPr sz="1650" b="0">
                <a:solidFill>
                  <a:srgbClr val="392F2A"/>
                </a:solidFill>
              </a:rPr>
              <a:t>支持“有帮助 / 不适合”反馈，持续校准推荐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881A95-72D8-43D5-A954-F0566A96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815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7858"/>
                </a:solidFill>
              </a:defRPr>
            </a:pPr>
            <a:r>
              <a:rPr sz="112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C4F7A-48B2-4CAC-A28C-E2BC183E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624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2F2A"/>
                </a:solidFill>
              </a:defRPr>
            </a:pPr>
            <a:r>
              <a:rPr sz="1650" b="0">
                <a:solidFill>
                  <a:srgbClr val="392F2A"/>
                </a:solidFill>
              </a:rPr>
              <a:t>完整重做、指定周修改、难度与节奏调整均保留历史版本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B66AF-7ADB-49EC-AE86-E4BFD504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524500"/>
            <a:ext cx="3028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2F2A"/>
                </a:solidFill>
              </a:defRPr>
            </a:pPr>
            <a:r>
              <a:rPr sz="1650" b="1">
                <a:solidFill>
                  <a:srgbClr val="392F2A"/>
                </a:solidFill>
              </a:rPr>
              <a:t>局部修订会保护未涉及周，降低计划迭代成本。</a:t>
            </a:r>
          </a:p>
        </p:txBody>
      </p:sp>
    </p:spTree>
    <p:extLst>
      <p:ext uri="{BB962C8B-B14F-4D97-AF65-F5344CB8AC3E}">
        <p14:creationId xmlns:p14="http://schemas.microsoft.com/office/powerpoint/2010/main" val="4153697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E6087-68BB-4CFE-855D-A52FF18E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PRACTICE &amp; MASTERY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FB625-18C4-4302-B620-D55FEA1D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92F2A"/>
                </a:solidFill>
              </a:defRPr>
            </a:pPr>
            <a:r>
              <a:rPr sz="3600" b="1">
                <a:solidFill>
                  <a:srgbClr val="392F2A"/>
                </a:solidFill>
              </a:rPr>
              <a:t>练习把计划变成行动，总览把行动变成掌握度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F994A-526E-43D2-9D3C-ED126AC6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7A27A-A08B-4867-98D2-F33962D4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A6A60"/>
                </a:solidFill>
              </a:defRPr>
            </a:pPr>
            <a:r>
              <a:rPr sz="1200" b="1">
                <a:solidFill>
                  <a:srgbClr val="7A6A60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15A7A-4413-46DC-B273-7D54D992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A6A60"/>
                </a:solidFill>
              </a:defRPr>
            </a:pPr>
            <a:r>
              <a:rPr sz="1725" b="0">
                <a:solidFill>
                  <a:srgbClr val="7A6A60"/>
                </a:solidFill>
              </a:rPr>
              <a:t>计划中的每个小任务都能生成练习；课程总览则把计划覆盖、提交率与正确率聚合为章节进度。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B0F95-5FF4-4213-85F1-A215BC97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53911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3A322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21453c9a54e41"/>
          <a:stretch xmlns:a="http://schemas.openxmlformats.org/drawingml/2006/main"/>
        </p:blipFill>
        <p:spPr>
          <a:xfrm xmlns:a="http://schemas.openxmlformats.org/drawingml/2006/main">
            <a:off x="628650" y="2700933"/>
            <a:ext cx="5162550" cy="2903934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B06C8-179A-486D-AC1C-0EB65384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53911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3A322D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bfcb05c2d546f3"/>
          <a:stretch xmlns:a="http://schemas.openxmlformats.org/drawingml/2006/main"/>
        </p:blipFill>
        <p:spPr>
          <a:xfrm xmlns:a="http://schemas.openxmlformats.org/drawingml/2006/main">
            <a:off x="6400800" y="2700933"/>
            <a:ext cx="5162550" cy="2903934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DB532-EEE5-4503-AD53-CA19B99C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92F2A"/>
                </a:solidFill>
              </a:defRPr>
            </a:pPr>
            <a:r>
              <a:rPr sz="1425" b="1">
                <a:solidFill>
                  <a:srgbClr val="392F2A"/>
                </a:solidFill>
              </a:rPr>
              <a:t>练习空间：周次、任务、题型、难度与数量可配置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46D27-45CD-4F9E-B21F-E685DC02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76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92F2A"/>
                </a:solidFill>
              </a:defRPr>
            </a:pPr>
            <a:r>
              <a:rPr sz="1425" b="1">
                <a:solidFill>
                  <a:srgbClr val="392F2A"/>
                </a:solidFill>
              </a:rPr>
              <a:t>学习总览：课程—章节—资源形成统一进度视图</a:t>
            </a:r>
          </a:p>
        </p:txBody>
      </p:sp>
    </p:spTree>
    <p:extLst>
      <p:ext uri="{BB962C8B-B14F-4D97-AF65-F5344CB8AC3E}">
        <p14:creationId xmlns:p14="http://schemas.microsoft.com/office/powerpoint/2010/main" val="242802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450D7-BCCF-4DF8-91FF-72FAA06C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GROWTH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ADC0F-9C78-400A-8DFD-D5DF7632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92F2A"/>
                </a:solidFill>
              </a:defRPr>
            </a:pPr>
            <a:r>
              <a:rPr sz="3600" b="1">
                <a:solidFill>
                  <a:srgbClr val="392F2A"/>
                </a:solidFill>
              </a:rPr>
              <a:t>成果提交形成可比较、可追溯的成长档案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13ACD-D523-4340-9219-41F62D8A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93633-EAB9-40E2-8B4D-D16DE1D1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A6A60"/>
                </a:solidFill>
              </a:defRPr>
            </a:pPr>
            <a:r>
              <a:rPr sz="1200" b="1">
                <a:solidFill>
                  <a:srgbClr val="7A6A60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2F682B-7D06-46CE-A725-121BB46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6838950" cy="46482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3A322D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147df224a4a32"/>
          <a:stretch xmlns:a="http://schemas.openxmlformats.org/drawingml/2006/main"/>
        </p:blipFill>
        <p:spPr>
          <a:xfrm xmlns:a="http://schemas.openxmlformats.org/drawingml/2006/main">
            <a:off x="647700" y="2122289"/>
            <a:ext cx="6610350" cy="3718322"/>
          </a:xfrm>
          <a:prstGeom xmlns:a="http://schemas.openxmlformats.org/drawingml/2006/main" prst="roundRect">
            <a:avLst>
              <a:gd name="adj" fmla="val 25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5F1B1-E34B-48CD-973D-3E62C128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526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7858"/>
                </a:solidFill>
              </a:defRPr>
            </a:pPr>
            <a:r>
              <a:rPr sz="1950" b="1">
                <a:solidFill>
                  <a:srgbClr val="B87858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5FFE3-ADAC-4C48-AD71-B530F3A6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2F2A"/>
                </a:solidFill>
              </a:defRPr>
            </a:pPr>
            <a:r>
              <a:rPr sz="1725" b="1">
                <a:solidFill>
                  <a:srgbClr val="392F2A"/>
                </a:solidFill>
              </a:rPr>
              <a:t>绑定具体任务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B65A4-251A-4CCE-9CA3-A918AD9F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764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A6A60"/>
                </a:solidFill>
              </a:defRPr>
            </a:pPr>
            <a:r>
              <a:rPr sz="1425" b="0">
                <a:solidFill>
                  <a:srgbClr val="7A6A60"/>
                </a:solidFill>
              </a:rPr>
              <a:t>按 weekNumber + taskIndex 精确定位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C48F0-3826-4B60-868E-F3ADC498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288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38E9E-13AE-4D79-99AE-3594602B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7858"/>
                </a:solidFill>
              </a:defRPr>
            </a:pPr>
            <a:r>
              <a:rPr sz="1950" b="1">
                <a:solidFill>
                  <a:srgbClr val="B87858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FA126-99D0-4464-9F0F-0A6F48BB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62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2F2A"/>
                </a:solidFill>
              </a:defRPr>
            </a:pPr>
            <a:r>
              <a:rPr sz="1725" b="1">
                <a:solidFill>
                  <a:srgbClr val="392F2A"/>
                </a:solidFill>
              </a:rPr>
              <a:t>解析成果文件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BABF0-1412-4205-98FD-56D2CC77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A6A60"/>
                </a:solidFill>
              </a:defRPr>
            </a:pPr>
            <a:r>
              <a:rPr sz="1425" b="0">
                <a:solidFill>
                  <a:srgbClr val="7A6A60"/>
                </a:solidFill>
              </a:rPr>
              <a:t>支持 PDF / DOCX / TXT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46B8A-F3D0-4F6A-BF06-E442983D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575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D54E5-F604-4501-A147-EEE6AA5B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10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7858"/>
                </a:solidFill>
              </a:defRPr>
            </a:pPr>
            <a:r>
              <a:rPr sz="1950" b="1">
                <a:solidFill>
                  <a:srgbClr val="B87858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C064E-47F2-495A-B166-F4017651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90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2F2A"/>
                </a:solidFill>
              </a:defRPr>
            </a:pPr>
            <a:r>
              <a:rPr sz="1725" b="1">
                <a:solidFill>
                  <a:srgbClr val="392F2A"/>
                </a:solidFill>
              </a:rPr>
              <a:t>异步五维评价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85D96-F412-4C8E-AD04-AB53FA38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338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A6A60"/>
                </a:solidFill>
              </a:defRPr>
            </a:pPr>
            <a:r>
              <a:rPr sz="1425" b="0">
                <a:solidFill>
                  <a:srgbClr val="7A6A60"/>
                </a:solidFill>
              </a:rPr>
              <a:t>MiMo 生成证据、建议与下一步挑战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5605C-1274-44AD-891A-B529AF441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86250"/>
            <a:ext cx="1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9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B46AA7-8357-4EAB-ACBD-B3FD0B0D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387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87858"/>
                </a:solidFill>
              </a:defRPr>
            </a:pPr>
            <a:r>
              <a:rPr sz="1950" b="1">
                <a:solidFill>
                  <a:srgbClr val="B87858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038CF-648E-47E6-904D-6465EF72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19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2F2A"/>
                </a:solidFill>
              </a:defRPr>
            </a:pPr>
            <a:r>
              <a:rPr sz="1725" b="1">
                <a:solidFill>
                  <a:srgbClr val="392F2A"/>
                </a:solidFill>
              </a:rPr>
              <a:t>版本进步对比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8F91B2-4800-4731-AA9E-627FB2E0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62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A6A60"/>
                </a:solidFill>
              </a:defRPr>
            </a:pPr>
            <a:r>
              <a:rPr sz="1425" b="0">
                <a:solidFill>
                  <a:srgbClr val="7A6A60"/>
                </a:solidFill>
              </a:rPr>
              <a:t>对比同一任务的上一份已评价成果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5EB7EE-9B97-45DB-915C-C6A0A3C5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7531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92F2A"/>
                </a:solidFill>
              </a:defRPr>
            </a:pPr>
            <a:r>
              <a:rPr sz="1575" b="1">
                <a:solidFill>
                  <a:srgbClr val="392F2A"/>
                </a:solidFill>
              </a:rPr>
              <a:t>评价结论会写回对话记忆与画像证据，并可生成个性化语音祝福。</a:t>
            </a:r>
          </a:p>
        </p:txBody>
      </p:sp>
    </p:spTree>
    <p:extLst>
      <p:ext uri="{BB962C8B-B14F-4D97-AF65-F5344CB8AC3E}">
        <p14:creationId xmlns:p14="http://schemas.microsoft.com/office/powerpoint/2010/main" val="1083008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F29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AAFE9D-F812-44F5-83A1-42A1E1D6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4916F"/>
                </a:solidFill>
              </a:defRPr>
            </a:pPr>
            <a:r>
              <a:rPr sz="1275" b="1">
                <a:solidFill>
                  <a:srgbClr val="D4916F"/>
                </a:solidFill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1BC03-09AA-4EFA-98D0-0287B165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DFB"/>
                </a:solidFill>
              </a:defRPr>
            </a:pPr>
            <a:r>
              <a:rPr sz="3600" b="1">
                <a:solidFill>
                  <a:srgbClr val="FFFDFB"/>
                </a:solidFill>
              </a:rPr>
              <a:t>混合架构完成可观测的多智能体编排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106AA-F8CB-429E-8444-022AB70C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513B5-6BF4-4BD3-9CA6-857CE657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E9E94"/>
                </a:solidFill>
              </a:defRPr>
            </a:pPr>
            <a:r>
              <a:rPr sz="1200" b="1">
                <a:solidFill>
                  <a:srgbClr val="AE9E9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4A209-6819-4E5C-94A4-7DD2A4B4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337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4916F"/>
                </a:solidFill>
              </a:defRPr>
            </a:pPr>
            <a:r>
              <a:rPr sz="1650" b="1">
                <a:solidFill>
                  <a:srgbClr val="D4916F"/>
                </a:solidFill>
              </a:rPr>
              <a:t>REST / SSE  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A1BC9D-A33B-4E65-B519-3C7FE94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3370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4916F"/>
                </a:solidFill>
              </a:defRPr>
            </a:pPr>
            <a:r>
              <a:rPr sz="1650" b="1">
                <a:solidFill>
                  <a:srgbClr val="D4916F"/>
                </a:solidFill>
              </a:rPr>
              <a:t>HTTP  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4B8B7-F1AA-4425-9548-70676794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4916F"/>
                </a:solidFill>
              </a:defRPr>
            </a:pPr>
            <a:r>
              <a:rPr sz="1650" b="1">
                <a:solidFill>
                  <a:srgbClr val="D4916F"/>
                </a:solidFill>
              </a:rPr>
              <a:t>API  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CA325-DA43-4A81-9D16-91EFF59F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18478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B4F4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005C8-E5C9-45DE-B0ED-DF5ED0F5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DFB"/>
                </a:solidFill>
              </a:defRPr>
            </a:pPr>
            <a:r>
              <a:rPr sz="1875" b="1">
                <a:solidFill>
                  <a:srgbClr val="FFFDFB"/>
                </a:solidFill>
              </a:rPr>
              <a:t>Vue 3 前端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27B74-E0DC-4989-A92C-8027A222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543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5B5AC"/>
                </a:solidFill>
              </a:defRPr>
            </a:pPr>
            <a:r>
              <a:rPr sz="1425" b="0">
                <a:solidFill>
                  <a:srgbClr val="C5B5AC"/>
                </a:solidFill>
              </a:rPr>
              <a:t>聊天 / 画像 / 计划</a:t>
            </a:r>
          </a:p>
          <a:p xmlns:a="http://schemas.openxmlformats.org/drawingml/2006/main">
            <a:pPr algn="ctr">
              <a:defRPr sz="1425" b="0">
                <a:solidFill>
                  <a:srgbClr val="C5B5AC"/>
                </a:solidFill>
              </a:defRPr>
            </a:pPr>
            <a:r>
              <a:rPr sz="1425" b="0">
                <a:solidFill>
                  <a:srgbClr val="C5B5AC"/>
                </a:solidFill>
              </a:rPr>
              <a:t>练习 / 总览 / Live2D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BC7BA-8C0C-4A7A-B949-41215205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18478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B4F4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C4B24-0EE4-4BF5-A44B-353D8F65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5146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DFB"/>
                </a:solidFill>
              </a:defRPr>
            </a:pPr>
            <a:r>
              <a:rPr sz="1875" b="1">
                <a:solidFill>
                  <a:srgbClr val="FFFDFB"/>
                </a:solidFill>
              </a:rPr>
              <a:t>Spring Boot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D1FE8-8A78-441B-8077-EC70B968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28950"/>
            <a:ext cx="1543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5B5AC"/>
                </a:solidFill>
              </a:defRPr>
            </a:pPr>
            <a:r>
              <a:rPr sz="1425" b="0">
                <a:solidFill>
                  <a:srgbClr val="C5B5AC"/>
                </a:solidFill>
              </a:rPr>
              <a:t>认证 / REST / SSE</a:t>
            </a:r>
          </a:p>
          <a:p xmlns:a="http://schemas.openxmlformats.org/drawingml/2006/main">
            <a:pPr algn="ctr">
              <a:defRPr sz="1425" b="0">
                <a:solidFill>
                  <a:srgbClr val="C5B5AC"/>
                </a:solidFill>
              </a:defRPr>
            </a:pPr>
            <a:r>
              <a:rPr sz="1425" b="0">
                <a:solidFill>
                  <a:srgbClr val="C5B5AC"/>
                </a:solidFill>
              </a:rPr>
              <a:t>业务服务 / JPA 持久化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4635A-5B9C-42AA-9E30-81FA2DA0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18859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9525">
            <a:solidFill>
              <a:srgbClr val="B878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63BCF0-CB34-4D21-B99A-F72D0C6B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146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DFB"/>
                </a:solidFill>
              </a:defRPr>
            </a:pPr>
            <a:r>
              <a:rPr sz="1875" b="1">
                <a:solidFill>
                  <a:srgbClr val="FFFDFB"/>
                </a:solidFill>
              </a:rPr>
              <a:t>FastAPI + LangChain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53E1F-9F2E-4251-8926-7C6A9E9A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28950"/>
            <a:ext cx="158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7E9DF"/>
                </a:solidFill>
              </a:defRPr>
            </a:pPr>
            <a:r>
              <a:rPr sz="1425" b="0">
                <a:solidFill>
                  <a:srgbClr val="F7E9DF"/>
                </a:solidFill>
              </a:rPr>
              <a:t>意图决策 / 智能体协同</a:t>
            </a:r>
          </a:p>
          <a:p xmlns:a="http://schemas.openxmlformats.org/drawingml/2006/main">
            <a:pPr algn="ctr">
              <a:defRPr sz="1425" b="0">
                <a:solidFill>
                  <a:srgbClr val="F7E9DF"/>
                </a:solidFill>
              </a:defRPr>
            </a:pPr>
            <a:r>
              <a:rPr sz="1425" b="0">
                <a:solidFill>
                  <a:srgbClr val="F7E9DF"/>
                </a:solidFill>
              </a:rPr>
              <a:t>超时、重试与降级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60825-8C3A-4D2A-BC2A-2DED3726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24100"/>
            <a:ext cx="21336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3A322D"/>
          </a:solidFill>
          <a:ln xmlns:a="http://schemas.openxmlformats.org/drawingml/2006/main" w="9525">
            <a:solidFill>
              <a:srgbClr val="5B4F4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97AE26-9BED-45C3-A09D-6BED894E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146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DFB"/>
                </a:solidFill>
              </a:defRPr>
            </a:pPr>
            <a:r>
              <a:rPr sz="1875" b="1">
                <a:solidFill>
                  <a:srgbClr val="FFFDFB"/>
                </a:solidFill>
              </a:rPr>
              <a:t>MiMo-v2.5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ED283-3213-4543-BDA9-28867F9D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28950"/>
            <a:ext cx="182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5B5AC"/>
                </a:solidFill>
              </a:defRPr>
            </a:pPr>
            <a:r>
              <a:rPr sz="1425" b="0">
                <a:solidFill>
                  <a:srgbClr val="C5B5AC"/>
                </a:solidFill>
              </a:rPr>
              <a:t>统一 LLM 能力</a:t>
            </a:r>
          </a:p>
          <a:p xmlns:a="http://schemas.openxmlformats.org/drawingml/2006/main">
            <a:pPr algn="ctr">
              <a:defRPr sz="1425" b="0">
                <a:solidFill>
                  <a:srgbClr val="C5B5AC"/>
                </a:solidFill>
              </a:defRPr>
            </a:pPr>
            <a:r>
              <a:rPr sz="1425" b="0">
                <a:solidFill>
                  <a:srgbClr val="C5B5AC"/>
                </a:solidFill>
              </a:rPr>
              <a:t>兼容 OpenAI 接口格式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F0FB28-4BFD-4CFB-8960-9DF8113D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76750"/>
            <a:ext cx="18478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453B35"/>
          </a:solidFill>
          <a:ln xmlns:a="http://schemas.openxmlformats.org/drawingml/2006/main" w="9525">
            <a:solidFill>
              <a:srgbClr val="5B4F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4F713-E7DB-4E3E-93E7-083621F7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910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DFB"/>
                </a:solidFill>
              </a:defRPr>
            </a:pPr>
            <a:r>
              <a:rPr sz="1650" b="1">
                <a:solidFill>
                  <a:srgbClr val="FFFDFB"/>
                </a:solidFill>
              </a:rPr>
              <a:t>MySQL 8.0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57CF5-BDE5-4554-9EAA-5623749F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14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BFAFA5"/>
                </a:solidFill>
              </a:defRPr>
            </a:pPr>
            <a:r>
              <a:rPr sz="1275" b="0">
                <a:solidFill>
                  <a:srgbClr val="BFAFA5"/>
                </a:solidFill>
              </a:rPr>
              <a:t>会话 · 画像 · 计划 · 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0B20DD-3BB7-4405-82CD-D5DD3972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4916F"/>
                </a:solidFill>
              </a:defRPr>
            </a:pPr>
            <a:r>
              <a:rPr sz="1875" b="1">
                <a:solidFill>
                  <a:srgbClr val="D4916F"/>
                </a:solidFill>
              </a:rPr>
              <a:t>10 个智能体角色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C313B-063F-4CF8-B188-8FC742FC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3C4BC"/>
                </a:solidFill>
              </a:defRPr>
            </a:pPr>
            <a:r>
              <a:rPr sz="1425" b="0">
                <a:solidFill>
                  <a:srgbClr val="D3C4BC"/>
                </a:solidFill>
              </a:rPr>
              <a:t>决策画像｜对话导师｜回答审核｜学习计划｜资源推荐</a:t>
            </a:r>
          </a:p>
          <a:p xmlns:a="http://schemas.openxmlformats.org/drawingml/2006/main">
            <a:pPr algn="l">
              <a:defRPr sz="1425" b="0">
                <a:solidFill>
                  <a:srgbClr val="D3C4BC"/>
                </a:solidFill>
              </a:defRPr>
            </a:pPr>
            <a:r>
              <a:rPr sz="1425" b="0">
                <a:solidFill>
                  <a:srgbClr val="D3C4BC"/>
                </a:solidFill>
              </a:rPr>
              <a:t>出题蓝图｜候选题生成｜题目审核｜标题生成｜成长评价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AE0383-B1CD-47AF-A70C-25D5EC7A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DFB"/>
                </a:solidFill>
              </a:defRPr>
            </a:pPr>
            <a:r>
              <a:rPr sz="1650" b="1">
                <a:solidFill>
                  <a:srgbClr val="FFFDFB"/>
                </a:solidFill>
              </a:rPr>
              <a:t>多层降级与质量审查确保：模型暂不可用时，核心产品链路仍可解释、可恢复。</a:t>
            </a:r>
          </a:p>
        </p:txBody>
      </p:sp>
    </p:spTree>
    <p:extLst>
      <p:ext uri="{BB962C8B-B14F-4D97-AF65-F5344CB8AC3E}">
        <p14:creationId xmlns:p14="http://schemas.microsoft.com/office/powerpoint/2010/main" val="1205919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F29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D5C4D-9ED2-4E00-942D-2D069887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916F"/>
                </a:solidFill>
              </a:defRPr>
            </a:pPr>
            <a:r>
              <a:rPr sz="1350" b="1">
                <a:solidFill>
                  <a:srgbClr val="D4916F"/>
                </a:solidFill>
              </a:rPr>
              <a:t>PROJECT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132BE-74AE-4DCE-9D26-46A4CE30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971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DFB"/>
                </a:solidFill>
              </a:defRPr>
            </a:pPr>
            <a:r>
              <a:rPr sz="4050" b="1">
                <a:solidFill>
                  <a:srgbClr val="FFFDFB"/>
                </a:solidFill>
              </a:rPr>
              <a:t>从一次回答，走向长期学习陪伴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2A34F-8EE4-4384-B846-80E01E9F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CBC4"/>
                </a:solidFill>
              </a:defRPr>
            </a:pPr>
            <a:r>
              <a:rPr sz="2025" b="0">
                <a:solidFill>
                  <a:srgbClr val="D8CBC4"/>
                </a:solidFill>
              </a:rPr>
              <a:t>项目已经具备可运行 Demo 的完整链路，并将“个性化”落实到可持续更新的画像、计划和成长证据。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28361-5706-4958-A7DB-0515A5D6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6B599-7663-40C8-9B32-AF8C7E3C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B"/>
                </a:solidFill>
              </a:defRPr>
            </a:pPr>
            <a:r>
              <a:rPr sz="2250" b="1">
                <a:solidFill>
                  <a:srgbClr val="FFFDFB"/>
                </a:solidFill>
              </a:rPr>
              <a:t>个性化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A2820-EE7F-4831-888E-2546755C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3162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3B3AA"/>
                </a:solidFill>
              </a:defRPr>
            </a:pPr>
            <a:r>
              <a:rPr sz="1650" b="0">
                <a:solidFill>
                  <a:srgbClr val="C3B3AA"/>
                </a:solidFill>
              </a:rPr>
              <a:t>六维画像 + 三层记忆，让回答和计划随学习者变化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27DBE-3FFE-4DBD-A772-2F83C4D9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194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E3581-0CF1-471F-BC59-23F0DCC3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05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B"/>
                </a:solidFill>
              </a:defRPr>
            </a:pPr>
            <a:r>
              <a:rPr sz="2250" b="1">
                <a:solidFill>
                  <a:srgbClr val="FFFDFB"/>
                </a:solidFill>
              </a:rPr>
              <a:t>10 个智能体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0D3A9-959B-4137-922D-D0A6192B5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57650"/>
            <a:ext cx="3162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3B3AA"/>
                </a:solidFill>
              </a:defRPr>
            </a:pPr>
            <a:r>
              <a:rPr sz="1650" b="0">
                <a:solidFill>
                  <a:srgbClr val="C3B3AA"/>
                </a:solidFill>
              </a:rPr>
              <a:t>角色分工协同，覆盖生成、审核、规划与评价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3FDC3-97F7-4A3D-98C9-86385861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194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F4320-12F7-42AC-AFFA-527D8AAB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05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DFB"/>
                </a:solidFill>
              </a:defRPr>
            </a:pPr>
            <a:r>
              <a:rPr sz="2250" b="1">
                <a:solidFill>
                  <a:srgbClr val="FFFDFB"/>
                </a:solidFill>
              </a:rPr>
              <a:t>学习闭环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DBF47-ED71-4DA3-87CA-1652695F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57650"/>
            <a:ext cx="3162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3B3AA"/>
                </a:solidFill>
              </a:defRPr>
            </a:pPr>
            <a:r>
              <a:rPr sz="1650" b="0">
                <a:solidFill>
                  <a:srgbClr val="C3B3AA"/>
                </a:solidFill>
              </a:rPr>
              <a:t>对话、练习、成果与掌握度互相反馈，不再是信息孤岛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B7193-6146-4E65-B898-B8D72467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4916F"/>
                </a:solidFill>
              </a:defRPr>
            </a:pPr>
            <a:r>
              <a:rPr sz="1725" b="1">
                <a:solidFill>
                  <a:srgbClr val="D4916F"/>
                </a:solidFill>
              </a:rPr>
              <a:t>下一步：丰富真实学习数据 · 持续提升资源有效性 · 完善部署监控与模型评测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C58429-9385-418E-920E-87045623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7220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DFB"/>
                </a:solidFill>
              </a:defRPr>
            </a:pPr>
            <a:r>
              <a:rPr sz="1500" b="1">
                <a:solidFill>
                  <a:srgbClr val="FFFDFB"/>
                </a:solidFill>
              </a:rPr>
              <a:t>让系统不仅“会回答”，更能看见、规划并验证学习者的进步。</a:t>
            </a:r>
          </a:p>
        </p:txBody>
      </p:sp>
    </p:spTree>
    <p:extLst>
      <p:ext uri="{BB962C8B-B14F-4D97-AF65-F5344CB8AC3E}">
        <p14:creationId xmlns:p14="http://schemas.microsoft.com/office/powerpoint/2010/main" val="539306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2026-07-19T15:58:05.2880000Z</dcterms:created>
  <dcterms:modified xsi:type="dcterms:W3CDTF">2026-07-19T15:58:05.2880000Z</dcterms:modified>
</coreProperties>
</file>